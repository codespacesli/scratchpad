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26"/>
    <p:sldId id="260" r:id="rId27"/>
    <p:sldId id="261" r:id="rId28"/>
    <p:sldId id="262" r:id="rId29"/>
    <p:sldId id="263" r:id="rId30"/>
    <p:sldId id="264" r:id="rId31"/>
    <p:sldId id="265" r:id="rId32"/>
    <p:sldId id="266" r:id="rId33"/>
    <p:sldId id="267" r:id="rId34"/>
    <p:sldId id="268" r:id="rId35"/>
    <p:sldId id="269" r:id="rId36"/>
    <p:sldId id="270" r:id="rId37"/>
    <p:sldId id="271" r:id="rId38"/>
    <p:sldId id="272" r:id="rId39"/>
    <p:sldId id="273" r:id="rId40"/>
    <p:sldId id="274" r:id="rId41"/>
    <p:sldId id="275" r:id="rId42"/>
    <p:sldId id="276" r:id="rId43"/>
    <p:sldId id="277" r:id="rId44"/>
    <p:sldId id="278" r:id="rId45"/>
    <p:sldId id="279" r:id="rId46"/>
    <p:sldId id="280" r:id="rId47"/>
    <p:sldId id="281" r:id="rId48"/>
    <p:sldId id="282" r:id="rId49"/>
    <p:sldId id="283" r:id="rId50"/>
    <p:sldId id="284" r:id="rId51"/>
    <p:sldId id="285" r:id="rId52"/>
    <p:sldId id="286" r:id="rId53"/>
    <p:sldId id="287" r:id="rId54"/>
    <p:sldId id="288" r:id="rId55"/>
    <p:sldId id="289" r:id="rId56"/>
    <p:sldId id="290" r:id="rId57"/>
    <p:sldId id="291" r:id="rId58"/>
    <p:sldId id="292" r:id="rId59"/>
    <p:sldId id="293" r:id="rId60"/>
    <p:sldId id="294" r:id="rId61"/>
    <p:sldId id="295" r:id="rId62"/>
    <p:sldId id="296" r:id="rId63"/>
    <p:sldId id="297" r:id="rId64"/>
    <p:sldId id="298" r:id="rId65"/>
    <p:sldId id="299" r:id="rId66"/>
    <p:sldId id="300" r:id="rId67"/>
    <p:sldId id="301" r:id="rId68"/>
    <p:sldId id="302" r:id="rId69"/>
    <p:sldId id="303" r:id="rId70"/>
    <p:sldId id="304" r:id="rId71"/>
    <p:sldId id="305" r:id="rId72"/>
    <p:sldId id="306" r:id="rId73"/>
    <p:sldId id="307" r:id="rId74"/>
    <p:sldId id="308" r:id="rId75"/>
    <p:sldId id="309" r:id="rId76"/>
    <p:sldId id="310" r:id="rId77"/>
    <p:sldId id="311" r:id="rId78"/>
    <p:sldId id="312" r:id="rId79"/>
    <p:sldId id="313" r:id="rId80"/>
    <p:sldId id="314" r:id="rId81"/>
    <p:sldId id="315" r:id="rId82"/>
    <p:sldId id="316" r:id="rId83"/>
    <p:sldId id="317" r:id="rId84"/>
    <p:sldId id="318" r:id="rId85"/>
    <p:sldId id="319" r:id="rId86"/>
    <p:sldId id="320" r:id="rId87"/>
    <p:sldId id="321" r:id="rId88"/>
    <p:sldId id="322" r:id="rId89"/>
    <p:sldId id="323" r:id="rId90"/>
    <p:sldId id="324" r:id="rId91"/>
    <p:sldId id="325" r:id="rId92"/>
    <p:sldId id="326" r:id="rId93"/>
    <p:sldId id="327" r:id="rId94"/>
    <p:sldId id="328" r:id="rId95"/>
    <p:sldId id="329" r:id="rId96"/>
    <p:sldId id="330" r:id="rId97"/>
    <p:sldId id="331" r:id="rId98"/>
    <p:sldId id="332" r:id="rId99"/>
    <p:sldId id="333" r:id="rId100"/>
    <p:sldId id="334" r:id="rId101"/>
  </p:sldIdLst>
  <p:sldSz cy="5715000" cx="9144000"/>
  <p:notesSz cx="6858000" cy="9144000"/>
  <p:embeddedFontLst>
    <p:embeddedFont>
      <p:font typeface="Google Sans Medium"/>
      <p:regular r:id="rId10"/>
      <p:bold r:id="rId11"/>
      <p:italic r:id="rId12"/>
      <p:boldItalic r:id="rId13"/>
    </p:embeddedFont>
    <p:embeddedFont>
      <p:font typeface="Google Sans"/>
      <p:regular r:id="rId14"/>
      <p:bold r:id="rId15"/>
      <p:italic r:id="rId16"/>
      <p:boldItalic r:id="rId17"/>
    </p:embeddedFont>
    <p:embeddedFont>
      <p:font typeface="Maven Pro"/>
      <p:regular r:id="rId18"/>
      <p:bold r:id="rId19"/>
    </p:embeddedFont>
    <p:embeddedFont>
      <p:font typeface="Maven Pro Medium"/>
      <p:regular r:id="rId20"/>
      <p:bold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80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0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font" Target="fonts/GoogleSansMedium-regular.fntdata"/><Relationship Id="rId11" Type="http://schemas.openxmlformats.org/officeDocument/2006/relationships/font" Target="fonts/GoogleSansMedium-bold.fntdata"/><Relationship Id="rId12" Type="http://schemas.openxmlformats.org/officeDocument/2006/relationships/font" Target="fonts/GoogleSansMedium-italic.fntdata"/><Relationship Id="rId13" Type="http://schemas.openxmlformats.org/officeDocument/2006/relationships/font" Target="fonts/GoogleSansMedium-boldItalic.fntdata"/><Relationship Id="rId14" Type="http://schemas.openxmlformats.org/officeDocument/2006/relationships/font" Target="fonts/GoogleSans-regular.fntdata"/><Relationship Id="rId15" Type="http://schemas.openxmlformats.org/officeDocument/2006/relationships/font" Target="fonts/GoogleSans-bold.fntdata"/><Relationship Id="rId16" Type="http://schemas.openxmlformats.org/officeDocument/2006/relationships/font" Target="fonts/GoogleSans-italic.fntdata"/><Relationship Id="rId17" Type="http://schemas.openxmlformats.org/officeDocument/2006/relationships/font" Target="fonts/GoogleSans-boldItalic.fntdata"/><Relationship Id="rId18" Type="http://schemas.openxmlformats.org/officeDocument/2006/relationships/font" Target="fonts/MavenPro-regular.fntdata"/><Relationship Id="rId19" Type="http://schemas.openxmlformats.org/officeDocument/2006/relationships/font" Target="fonts/MavenPro-bold.fntdata"/><Relationship Id="rId20" Type="http://schemas.openxmlformats.org/officeDocument/2006/relationships/font" Target="fonts/MavenProMedium-regular.fntdata"/><Relationship Id="rId21" Type="http://schemas.openxmlformats.org/officeDocument/2006/relationships/font" Target="fonts/MavenProMedium-bold.fntdata"/><Relationship Id="rId22" Type="http://schemas.openxmlformats.org/officeDocument/2006/relationships/font" Target="fonts/OpenSans-regular.fntdata"/><Relationship Id="rId23" Type="http://schemas.openxmlformats.org/officeDocument/2006/relationships/font" Target="fonts/OpenSans-bold.fntdata"/><Relationship Id="rId24" Type="http://schemas.openxmlformats.org/officeDocument/2006/relationships/font" Target="fonts/OpenSans-italic.fntdata"/><Relationship Id="rId25" Type="http://schemas.openxmlformats.org/officeDocument/2006/relationships/font" Target="fonts/OpenSans-boldItalic.fntdata"/><Relationship Id="rId26" Type="http://schemas.openxmlformats.org/officeDocument/2006/relationships/slide" Target="slides/slide4.xml"/><Relationship Id="rId27" Type="http://schemas.openxmlformats.org/officeDocument/2006/relationships/slide" Target="slides/slide5.xml"/><Relationship Id="rId28" Type="http://schemas.openxmlformats.org/officeDocument/2006/relationships/slide" Target="slides/slide6.xml"/><Relationship Id="rId29" Type="http://schemas.openxmlformats.org/officeDocument/2006/relationships/slide" Target="slides/slide7.xml"/><Relationship Id="rId30" Type="http://schemas.openxmlformats.org/officeDocument/2006/relationships/slide" Target="slides/slide8.xml"/><Relationship Id="rId31" Type="http://schemas.openxmlformats.org/officeDocument/2006/relationships/slide" Target="slides/slide9.xml"/><Relationship Id="rId32" Type="http://schemas.openxmlformats.org/officeDocument/2006/relationships/slide" Target="slides/slide10.xml"/><Relationship Id="rId33" Type="http://schemas.openxmlformats.org/officeDocument/2006/relationships/slide" Target="slides/slide11.xml"/><Relationship Id="rId34" Type="http://schemas.openxmlformats.org/officeDocument/2006/relationships/slide" Target="slides/slide12.xml"/><Relationship Id="rId35" Type="http://schemas.openxmlformats.org/officeDocument/2006/relationships/slide" Target="slides/slide13.xml"/><Relationship Id="rId36" Type="http://schemas.openxmlformats.org/officeDocument/2006/relationships/slide" Target="slides/slide14.xml"/><Relationship Id="rId37" Type="http://schemas.openxmlformats.org/officeDocument/2006/relationships/slide" Target="slides/slide15.xml"/><Relationship Id="rId38" Type="http://schemas.openxmlformats.org/officeDocument/2006/relationships/slide" Target="slides/slide16.xml"/><Relationship Id="rId39" Type="http://schemas.openxmlformats.org/officeDocument/2006/relationships/slide" Target="slides/slide17.xml"/><Relationship Id="rId40" Type="http://schemas.openxmlformats.org/officeDocument/2006/relationships/slide" Target="slides/slide18.xml"/><Relationship Id="rId41" Type="http://schemas.openxmlformats.org/officeDocument/2006/relationships/slide" Target="slides/slide19.xml"/><Relationship Id="rId42" Type="http://schemas.openxmlformats.org/officeDocument/2006/relationships/slide" Target="slides/slide20.xml"/><Relationship Id="rId43" Type="http://schemas.openxmlformats.org/officeDocument/2006/relationships/slide" Target="slides/slide21.xml"/><Relationship Id="rId44" Type="http://schemas.openxmlformats.org/officeDocument/2006/relationships/slide" Target="slides/slide22.xml"/><Relationship Id="rId45" Type="http://schemas.openxmlformats.org/officeDocument/2006/relationships/slide" Target="slides/slide23.xml"/><Relationship Id="rId46" Type="http://schemas.openxmlformats.org/officeDocument/2006/relationships/slide" Target="slides/slide24.xml"/><Relationship Id="rId47" Type="http://schemas.openxmlformats.org/officeDocument/2006/relationships/slide" Target="slides/slide25.xml"/><Relationship Id="rId48" Type="http://schemas.openxmlformats.org/officeDocument/2006/relationships/slide" Target="slides/slide26.xml"/><Relationship Id="rId49" Type="http://schemas.openxmlformats.org/officeDocument/2006/relationships/slide" Target="slides/slide27.xml"/><Relationship Id="rId50" Type="http://schemas.openxmlformats.org/officeDocument/2006/relationships/slide" Target="slides/slide28.xml"/><Relationship Id="rId51" Type="http://schemas.openxmlformats.org/officeDocument/2006/relationships/slide" Target="slides/slide29.xml"/><Relationship Id="rId52" Type="http://schemas.openxmlformats.org/officeDocument/2006/relationships/slide" Target="slides/slide30.xml"/><Relationship Id="rId53" Type="http://schemas.openxmlformats.org/officeDocument/2006/relationships/slide" Target="slides/slide31.xml"/><Relationship Id="rId54" Type="http://schemas.openxmlformats.org/officeDocument/2006/relationships/slide" Target="slides/slide32.xml"/><Relationship Id="rId55" Type="http://schemas.openxmlformats.org/officeDocument/2006/relationships/slide" Target="slides/slide33.xml"/><Relationship Id="rId56" Type="http://schemas.openxmlformats.org/officeDocument/2006/relationships/slide" Target="slides/slide34.xml"/><Relationship Id="rId57" Type="http://schemas.openxmlformats.org/officeDocument/2006/relationships/slide" Target="slides/slide35.xml"/><Relationship Id="rId58" Type="http://schemas.openxmlformats.org/officeDocument/2006/relationships/slide" Target="slides/slide36.xml"/><Relationship Id="rId59" Type="http://schemas.openxmlformats.org/officeDocument/2006/relationships/slide" Target="slides/slide37.xml"/><Relationship Id="rId60" Type="http://schemas.openxmlformats.org/officeDocument/2006/relationships/slide" Target="slides/slide38.xml"/><Relationship Id="rId61" Type="http://schemas.openxmlformats.org/officeDocument/2006/relationships/slide" Target="slides/slide39.xml"/><Relationship Id="rId62" Type="http://schemas.openxmlformats.org/officeDocument/2006/relationships/slide" Target="slides/slide40.xml"/><Relationship Id="rId63" Type="http://schemas.openxmlformats.org/officeDocument/2006/relationships/slide" Target="slides/slide41.xml"/><Relationship Id="rId64" Type="http://schemas.openxmlformats.org/officeDocument/2006/relationships/slide" Target="slides/slide42.xml"/><Relationship Id="rId65" Type="http://schemas.openxmlformats.org/officeDocument/2006/relationships/slide" Target="slides/slide43.xml"/><Relationship Id="rId66" Type="http://schemas.openxmlformats.org/officeDocument/2006/relationships/slide" Target="slides/slide44.xml"/><Relationship Id="rId67" Type="http://schemas.openxmlformats.org/officeDocument/2006/relationships/slide" Target="slides/slide45.xml"/><Relationship Id="rId68" Type="http://schemas.openxmlformats.org/officeDocument/2006/relationships/slide" Target="slides/slide46.xml"/><Relationship Id="rId69" Type="http://schemas.openxmlformats.org/officeDocument/2006/relationships/slide" Target="slides/slide47.xml"/><Relationship Id="rId70" Type="http://schemas.openxmlformats.org/officeDocument/2006/relationships/slide" Target="slides/slide48.xml"/><Relationship Id="rId71" Type="http://schemas.openxmlformats.org/officeDocument/2006/relationships/slide" Target="slides/slide49.xml"/><Relationship Id="rId72" Type="http://schemas.openxmlformats.org/officeDocument/2006/relationships/slide" Target="slides/slide50.xml"/><Relationship Id="rId73" Type="http://schemas.openxmlformats.org/officeDocument/2006/relationships/slide" Target="slides/slide51.xml"/><Relationship Id="rId74" Type="http://schemas.openxmlformats.org/officeDocument/2006/relationships/slide" Target="slides/slide52.xml"/><Relationship Id="rId75" Type="http://schemas.openxmlformats.org/officeDocument/2006/relationships/slide" Target="slides/slide53.xml"/><Relationship Id="rId76" Type="http://schemas.openxmlformats.org/officeDocument/2006/relationships/slide" Target="slides/slide54.xml"/><Relationship Id="rId77" Type="http://schemas.openxmlformats.org/officeDocument/2006/relationships/slide" Target="slides/slide55.xml"/><Relationship Id="rId78" Type="http://schemas.openxmlformats.org/officeDocument/2006/relationships/slide" Target="slides/slide56.xml"/><Relationship Id="rId79" Type="http://schemas.openxmlformats.org/officeDocument/2006/relationships/slide" Target="slides/slide57.xml"/><Relationship Id="rId80" Type="http://schemas.openxmlformats.org/officeDocument/2006/relationships/slide" Target="slides/slide58.xml"/><Relationship Id="rId81" Type="http://schemas.openxmlformats.org/officeDocument/2006/relationships/slide" Target="slides/slide59.xml"/><Relationship Id="rId82" Type="http://schemas.openxmlformats.org/officeDocument/2006/relationships/slide" Target="slides/slide60.xml"/><Relationship Id="rId83" Type="http://schemas.openxmlformats.org/officeDocument/2006/relationships/slide" Target="slides/slide61.xml"/><Relationship Id="rId84" Type="http://schemas.openxmlformats.org/officeDocument/2006/relationships/slide" Target="slides/slide62.xml"/><Relationship Id="rId85" Type="http://schemas.openxmlformats.org/officeDocument/2006/relationships/slide" Target="slides/slide63.xml"/><Relationship Id="rId86" Type="http://schemas.openxmlformats.org/officeDocument/2006/relationships/slide" Target="slides/slide64.xml"/><Relationship Id="rId87" Type="http://schemas.openxmlformats.org/officeDocument/2006/relationships/slide" Target="slides/slide65.xml"/><Relationship Id="rId88" Type="http://schemas.openxmlformats.org/officeDocument/2006/relationships/slide" Target="slides/slide66.xml"/><Relationship Id="rId89" Type="http://schemas.openxmlformats.org/officeDocument/2006/relationships/slide" Target="slides/slide67.xml"/><Relationship Id="rId90" Type="http://schemas.openxmlformats.org/officeDocument/2006/relationships/slide" Target="slides/slide68.xml"/><Relationship Id="rId91" Type="http://schemas.openxmlformats.org/officeDocument/2006/relationships/slide" Target="slides/slide69.xml"/><Relationship Id="rId92" Type="http://schemas.openxmlformats.org/officeDocument/2006/relationships/slide" Target="slides/slide70.xml"/><Relationship Id="rId93" Type="http://schemas.openxmlformats.org/officeDocument/2006/relationships/slide" Target="slides/slide71.xml"/><Relationship Id="rId94" Type="http://schemas.openxmlformats.org/officeDocument/2006/relationships/slide" Target="slides/slide72.xml"/><Relationship Id="rId95" Type="http://schemas.openxmlformats.org/officeDocument/2006/relationships/slide" Target="slides/slide73.xml"/><Relationship Id="rId96" Type="http://schemas.openxmlformats.org/officeDocument/2006/relationships/slide" Target="slides/slide74.xml"/><Relationship Id="rId97" Type="http://schemas.openxmlformats.org/officeDocument/2006/relationships/slide" Target="slides/slide75.xml"/><Relationship Id="rId98" Type="http://schemas.openxmlformats.org/officeDocument/2006/relationships/slide" Target="slides/slide76.xml"/><Relationship Id="rId99" Type="http://schemas.openxmlformats.org/officeDocument/2006/relationships/slide" Target="slides/slide77.xml"/><Relationship Id="rId100" Type="http://schemas.openxmlformats.org/officeDocument/2006/relationships/slide" Target="slides/slide78.xml"/><Relationship Id="rId101" Type="http://schemas.openxmlformats.org/officeDocument/2006/relationships/slide" Target="slides/slide7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58b88022b_0_96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58b88022b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6e7c23001_0_4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6e7c2300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58b88022b_0_157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58b88022b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Neue Sektion: Architektur-Muster für den Agent-Einsatz. Aufbau: vier Grundmuster (Ralph-Loop, Orchestrator + Subagenten, Single-Agent als Gegenposition, Swarm/Peer-to-Peer), aktuelle Zusatz-Muster 2025/2026, dann die Physik dahinter (Kontextgrösse vs. Qualität, Kontext-Management) und als Abschluss eine Entscheidungs-Leiter. Quellen mit URLs am Sektionsende. Basis: Recherche August 2026 (Primärquellen + Benchmarks), Punkte Swarm und Zusatz-Muster per Websuche abgesichert.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Primärquelle: Geoffrey Huntley (ghuntley.com/ralph). Das Neue ist nicht die Schleife — die kennen Build-Systeme und CI — sondern der Agent darin plus programmatisch prüfbare Abschlusskriterien als dauerhafter Zustand (Tessl-Analyse). Bewusst nur EINE Aufgabe pro Runde, damit kein Kontext-Ballast entsteht. Huntley warnt selbst vor Multi-Agent-Komplexität ('nicht-deterministische Agenten = verstärktes Microservices-Chaos'); Subagenten nutzt er nur für breites Suchen/Schreiben, die Validierung (Build/Test) bleibt serialisiert.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 eigentliche Voraussetzung ist nicht der Prompt, sondern die Verifikations-Infrastruktur: ohne objektives Grün/Rot läuft die Schleife endlos (verbrennt Tokens) oder meldet falsch-grünen Erfolg. 'If the specs are bad, the results will be meh' (HumanLayer). codecentric-Praxisbericht: 'the better the framework, the more reliable the agents'. Terminierung über explizite Signale (COMPLETE/BLOCKED/DECIDE, Exit-Codes) statt Raten — das ist allerdings Konvention einzelner Ralph-Distributionen (ralphloop.sh), nicht Teil von Huntleys Originaltechnik.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Nicht geeignet: Ambiguität, Design-/UX-/Business-Logik-Urteil (Korrektheit ist dort subjektiv, die Schleife optimiert am Ziel vorbei), iterative Exploration mit undefiniertem Workflow, sicherheitskritischer Code ohne menschliches Review (Auth, Payment, personenbezogene Daten). Belegt nur für Greenfield — zu Brownfield-/Produktions-Codebasen gibt es keine belastbare Aussage. Kleine nächtliche Changesets vermeiden die Merge-Konflikte grosser Loop-Läufe (HumanLayer).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 vier dokumentierten Failure-Modes stammen von Huntley selbst. Gegenmittel aus der Praxis: explizite Such-Anweisung ('prüfe zuerst, ob es das schon gibt') gegen das Doppelt-Bauen, brachiale Verbots-Prompts gegen Platzhalter. 'Compaction is the devil' (Tessl) — Huntley ersetzt Compaction durch den harten Neustart mit Dateizustand. Beim kaputtgelaufenen Codebase muss der Entwickler zwischen Reset und Rettung entscheiden. Schlechte Specs führen zu mittelmässigem Ergebnis.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Beides sind Einzelanekdoten für kleine Greenfield-Projekte — ein belastbarer Kosten-pro-Ergebnis-Vergleich Ralph vs. Orchestrator existiert in keiner gelesenen Quelle. Senior-Expertise bleibt Voraussetzung: der Loop ist Operator-Verstärkung mit Aufsicht, kein Ersatz für Urteilsvermögen.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Anthropics Research-System: Lead = Opus 4, Subagenten = Sonnet 4. Der Lead persistiert seinen Plan in Memory, weil der Kontext beim Überschreiten von 200k Tokens abgeschnitten wird — der Plan darf nicht im Verlauf leben. Kontext-Isolation ist der Kern des Musters: die Subagenten verbrennen ihre eigenen Fenster mit Rohmaterial, der Lead sieht nur die Destillate.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Einordnung der +90,2 %: internes Anthropic-Eval auf Research-Aufgaben (Opus-4-Lead + Sonnet-4-Subagenten vs. Single-Agent-Opus-4) ohne veröffentlichte Methodik — nicht auf Coding übertragbar. Der Fall, für den die Zahl steht: Breitensuche mit unabhängigen Teilrichtungen (Recherche, Codebase-Exploration, Review aus mehreren Linsen). Drei Faktoren zusammen erklären 95 % der Varianz; Token-Nutzung allein 80 %.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Jede Folgeanfrage sendet den gesamten Verlauf erneut — ein voller Orchestrator-Kontext wird gleichzeitig schlechter UND teurer. Der scheinbare Widerspruch zur funktionierenden Worktree-Praxis löst sich vermutlich über die Ebene auf: parallel SCHREIBENDE Agenten an derselben Semantik vs. parallel LESENDE/analysierende Agenten bzw. getrennte Datei-Ownership — explizit sagen das die Quellen nicht. Lehre aus Anthropics Engineering: präzise Subtask-Spezifikation gegen Doppelarbeit, Effort-Scaling-Regeln im Prompt gegen Überinvestition.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Gegenmittel: Ergebnisse aggregieren und ausserhalb des Hauptkontexts halten, Aufträge enger schneiden, Rückgaben hart auf 1.000–2.000 Token destillieren (Anthropics eigene Zahl). Integration und Architektur-Urteil bleiben immer beim Orchestrator bzw. beim Menschen (Osmani). Zusätzlich: viele halbrelevante Subagent-Berichte wirken im Kontext als Distraktoren, nicht bloss als Ballast — und Distraktoren verschlechtern kompoundierend (Chroma: 0 → 1 → 4 Distraktoren).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Walden Yan (Cognition/Devin). Zwei Prinzipien: (1) vollständige Kontexte UND Agent-Traces teilen, nicht einzelne Nachrichten; (2) 'actions carry implicit decisions' — widersprüchliche implizite Entscheidungen paralleler Agenten liefern inkohärente Ergebnisse, die kein nachgelagerter Agent mehr versöhnt. Für die Diskussion wichtig: Cognition argumentiert aus dem Devin-Kontext (schreibendes Coding mit langer Entscheidungskette), Anthropic aus dem Research-Kontext (lesende Breitensuche) — ob Cognitions Einwand auch reine Lese-/Review-Fan-outs trifft, lassen beide offen. Das vorgeschaltete Compression-Modell bezeichnet Cognition selbst als schwer und unfertig.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OpenAI Swarm war das Experiment; das Agents SDK ist der produktive Nachfolger (ersetzt Swarm seit März 2025, ergänzt Guardrails, Tracing, State-Management) und behält das Modell bei: jeder Agent arbeitet im eigenen Kontext, bis er entscheidet, dass ein anderer Agent besser geeignet ist — dann Handoff. Das Swarm-Modell ist damit strikt dezentral, aber sequenziell (kein paralleles Arbeiten wie beim Orchestrator-Fan-out). Per Websuche abgesichert (August 2026).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Industrie-Guidance (u. a. Augment Code, GuruSup): die meisten Produktionssysteme starten mit Orchestrator-Worker. Swarm-Muster glänzen bei Exploration mit grossem Problemraum und unbekanntem Pfad (Research-Flows, Competitive Intelligence, Scraping) und bei Conversational Routing (Kundenservice: Triage-Agent reicht an den Fachagenten weiter). Oberhalb von ~8 Agenten übersteigt die kombinatorische Fehlerfläche das End-to-End-Testbare — hierarchische Orchestrierung mit expliziten Fehlergrenzen wird zur Zuverlässigkeits-Anforderung. Websuche August 2026.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Agent Teams: Claude Code beziffert ~7× eines Standard-Sessions; Osmani-Heuristik: Parallelarbeit mit Koordinationsbedarf = Agent-Teams, 3–5 optimal. Worktrees isolieren das Filesystem, NICHT die Laufzeit (Ports, DB, Cache kollidieren weiter); Tokenkosten skalieren linear; die echte Obergrenze ist die eigene Review-Kapazität. Scheduled Agents sind faktisch Ralph mit externem Scheduler statt while-Schleife — inklusive derselben Voraussetzung objektiver Verifikation ('nightly tech-debt burner': Dead-Code, Dependency-Upgrades, Namenskonventionen). Websuche 2026 bestätigt: Scheduling ist inzwischen überall angekommen (recurring cloud agents, Codex timed tasks, CI-Trigger). Vorbehalt: 4–8 Worktrees und das Beta-Datum stammen aus Suchergebnis-Snippets, nicht aus vollständig gelesenen Primärseiten.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'Building effective agents' (Anthropic) trennt Workflows (LLM in vorgegebenen Code-Pfaden) von Agenten (Modell steuert sich selbst) und katalogisiert fünf Workflow-Muster: Prompt-Chaining, Routing, Parallelization, Orchestrator-Workers, Evaluator-Optimizer. Leitsatz: 'start simple, and only increase complexity when needed' — ist der Schritt vorhersagbar, gehört er in deterministischen Code, nicht in Modell-Ermessen. Verwandt mit Evaluator-Optimizer: Oracle-/Advisor-Modelle (ein stärkeres Modell für harte Schritte, z. B. Amp Oracle). 12-Factor Agents (HumanLayer): eigenes Kontextfenster besitzen (F3), eigener Control-Flow (F8), Fehler kompakt in den Kontext (F9), kleine fokussierte Agenten statt Monolith (F10), Launch/Pause/Resume über simple APIs (F6), Menschen-Kontakt als Tool-Call (F7), Agent als Stateless Reducer (F12).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Chroma 'Context Rot' (Juli 2025): 18 Frontier-Modelle, fallende Leistung bei jedem Längen-Inkrement — sogar bei trivialen Aufgaben, also unabhängig von der Schwierigkeit. NoLiMa (Adobe, ICML 2025) misst Retrieval OHNE Wort-Überlappung — das, was echtes Regel-Erinnern verlangt: bei 32k fallen 11 von 13 Modellen (alle bewerben &gt;=128k) unter 50 % ihrer Kurzkontext-Baseline. RULER: nur die Hälfte der Modelle hält 32k über der Qualitätsschwelle. Lost in the Middle (Liu et al. 2023): U-Kurve — Anfang top, Ende fast top, Mitte 20–30 Punkte schwächer; Regeln in der Verlaufs-Mitte sind strukturell benachteiligt. Databricks: DBRX-instruct verfehlt Anweisungen in 5,2 % (8k) → 17,6 % (16k) → 50,4 % (32k) der Fälle; Llama-3.1-405b beginnt bei ~32k zu degradieren.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MRCR v2 zum Vergleich: GPT-5.4 fällt auf 36,6 %, Gemini 3 Pro auf 24,5 % bei 1M — die Degradation der neuesten Generation ist graduell statt Klippe, aber real. Die 50–70-%-Regel ist Erfahrungswert, keine Messung; Begründung: eine Zusammenfassung, die erst bei 80–95 % Füllung entsteht, wird aus bereits degradiertem Kontext erzeugt und erbt dessen Lücken. Die ~83,5-%-Auto-Compact-Schwelle stammt aus Community-Reverse-Engineering und ist versionsabhängig. Warnsignale degradierter Sessions: zweimal dieselbe Korrektur, Wiederholen früherer Aktionen, Widerspruch zu früheren Entscheidungen (Beispiel Gemini-Pokémon-Agent: wiederholt jenseits ~100k Aktionen aus der History statt neue Pläne zu bilden). Konsequenzen: Plan und Regeln ausserhalb des Verlaufs persistieren (Datei statt Verlauf), kritische Instruktionen an Anfang UND Ende platzieren, Tool-Oberfläche klein halten (46 vs. 19 Tools: messbarer Unterschied).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Anthropic 'Effective context engineering': die drei Langhorizont-Techniken sind gleichrangig, die Aufgabenform entscheidet. Ralphs Plan-Datei-Muster IST strukturierte Notizen plus Kontext-Reset — die Alternative zu Compaction, nicht zu Subagenten (Huntley hält Compaction für den Feind und ersetzt sie durch den harten Neustart mit Dateizustand). Hintergrund: das Attention-Budget — jeder Token zehrt daran (n²-Aufmerksamkeit des Transformers), 'context rot' ist der Recall-Verlust mit steigender Tokenzahl. LongMemEval: ein ~300-Token-Fokus-Prompt schlägt den ~113k-Voll-Prompt bei allen Modellfamilien.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Claude-Code-Doku: /clear, /compact, /context sind 'user-invoked only (not Claude)'. Die zwei automatisierbaren Enden: (1) Ein PreCompact-Hook (matcher 'auto') schreibt bzw. erzwingt den Handoff-Brief; das einzige dokumentierte Kontext-Messgerät ist das Statusline-Feld context_window.used_percentage. (2) Ein SessionStart-Hook mit matcher 'clear' gibt Brief + Arbeitsanweisung auf stdout aus — das landet automatisch als Kontext im frischen Fenster; der /clear-Tastendruck selbst bleibt beim User. Ganz ohne User: Supervisor-Skript über das Agent SDK — startet query(), liest usage aus der ResultMessage (der Token-Zähler, den Hooks nicht haben), fordert den Brief an und startet eine FRISCHE Session mit dem Brief im Prompt; die Doku empfiehlt genau dieses Muster (Ergebnisse als App-State in eine frische Session geben). Preis: keine TUI, Gates/Approvals selbst bauen (canUseTool/PreToolUse). Auto-Compact ersetzt keinen destillierten Brief; einen nativen 'übergib an frische Session'-Mechanismus gibt es nicht.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Immer die einfachste tragende Stufe nehmen und erst eskalieren, wenn sie nachweislich nicht trägt (Anthropic: 'start simple'). Die vier Kriterien konkret: (1) Objektive Verifizierbarkeit ist das erste Sieb — nur was Tests/Typcheck/Compile eindeutig grün/rot melden, darf unbeaufsichtigt in Stufe 4. (2) User-Gates/Interaktivität schliessen den Loop aus: er hat keinen User-Kanal, Fragen müssen als Daten geparkt und ausserhalb entschieden werden. (3) Grosser homogener Backlog → Loop; Ambiguität und Design-Urteil → zurück zu Single-Agent oder Mensch. (4) Kosten: Ralph billig pro Iteration, einzelner Agent ~4× Chat, Multi-Agent ~15×, Agent Teams ~7×, Worktrees linear mit der Agentenzahl. Zusatzregel: sicherheitskritischer Code (Auth, Payment, personenbezogene Daten) nie autonom ohne menschliches Review.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Quellen der Recherche (August 2026).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Quellen der Recherche (August 2026).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Quellen der Recherche (August 2026); die letzten drei stammen aus der Websuche-Absicherung (Swarm vs. Orchestrator, Muster 2026). Methodische Vorbehalte der Recherche: +90,2 % ist ein internes Eval ohne veröffentlichte Methodik; die Kostenzahlen (297 USD / 70 EUR vs. 4×/15×) sind nicht direkt vergleichbar; der Bereich 100k–800k Token ist empirisch dünn besetzt; keine Studie misst Orchestrator-Qualität direkt (Übertragung aus Retrieval-/Instruction-Benchmarks); Worktree-Obergrenze 4–8 und Managed-Agents-Beta-Datum stammen aus Suchergebnis-Snippets.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Neue Sektion: Themenlandkarte der Disziplin Harness Engineering — alles, was Coding-Agents AUSSERHALB des Modells zuverlässig macht. Breite vor Tiefe: pro Thema eine Folie (Was / Warum / Werkzeuge), Details und Quellen in den Notizen; Auswahl und Streichung sind Sache der Workshop-Vorbereitung. Die Architektur-Muster (Ralph-Loop, Orchestrator, Swarm, Kontext-Management) haben ihre eigene Sektion davor und werden hier bewusst nicht wiederholt.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Der Begriff ist seit Anfang 2026 Mainstream und bezeichnet die dritte Reifephase nach Prompt- und Context-Engineering. Illustration aus der Praxis: das OpenAI-Codex-Team berichtet von einer Produktions-App mit über 1 Mio. Zeilen, bei der keine Zeile von Hand geschrieben wurde — getragen von Verifikations- und Kontroll-Schichten, nicht vom Modell allein. Quellen: https://www.augmentcode.com/guides/harness-engineering-ai-coding-agents ; https://www.faros.ai/blog/harness-engineering ; https://github.com/ai-boost/awesome-harness-engineering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Acht Cluster, 40 Themen — je Cluster eine Übersichtsfolie, dann eine Folie pro Thema. Kontext-Management und Architektur-Muster: siehe vorige Sektion. Die Landkarte ist bewusst vollständig — für den Workshop wird gestrichen, nicht ergänzt.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Cluster-Übersicht: deterministische Kontrolle über das, was der Agent darf und wie er antwortet — Regeln als Code statt als Hoffnung im Prompt.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Ein PreToolUse-Hook kann per Exit-Code einen Tool-Aufruf hart blocken; Stop-Hooks geben dem Agenten Nacharbeit als Auftrag zurück. Damit wandern dokumentierte Wiederholungsfehler aus dem Prompt in versionierten, geprüften Code. Quellen: https://code.claude.com/docs/en/hooks ; https://cursor.com/docs/agent/hooks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Allow-/Deny-/Ask-Listen liegen versioniert in Settings-Dateien und lassen sich pro Projekt und pro Nutzer schichten. Anti-Pattern: pauschales Skippen aller Prompts ausserhalb einer Sandbox. Quellen: https://code.claude.com/docs/en/iam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Sandbox erlaubt MEHR Autonomie bei WENIGER Nachfragen: was die Sandbox physisch verhindert, muss kein Permission-Dialog mehr bewachen. Containment gilt 2026 als tragende Abwehr gegen die Folgen von Prompt Injection — nicht Filter. Quellen: https://github.com/anthropic-experimental/sandbox-runtime ; https://e2b.dev ; https://www.sophos.com/en-us/blog/inside-the-lethal-trifecta-blast-radius-reduction-in-ai-agent-deployments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Seit 2026 stewardet die Agentic AI Foundation (Linux Foundation) die AGENTS.md-Spec; entstanden ist sie als gemeinsame Konvention der Teams hinter Codex, Amp, Jules, Cursor und Factory. Die Spec bleibt bewusst minimal (keine Pflichtfelder); tool-spezifische Extras leben in eigenen Dateien. Quellen: https://agents.md ; https://www.augmentcode.com/guides/how-to-build-agents-md ; https://www.morphllm.com/agents-md-guide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Skills machen Prozeduren versionierbar, teilbar und tool-übergreifend nutzbar (der SKILL.md-Standard wird von mehreren Clients gelesen). Sicherheitsfrage mitdenken: fremde Skills sind ausführbarer Code — vor Installation prüfen. Quellen: https://www.anthropic.com/news/skills ; https://code.claude.com/docs/en/skills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Spec Kit strukturiert mit /specify, /plan, /tasks; Kiro erzwingt testbare Akzeptanzkriterien (EARS-Form). Offene Flanke: Specs altern wie Doku — ohne Governance divergieren Spec und Code wieder. Quellen: https://github.com/github/spec-kit ; https://kiro.dev ; https://www.truefoundry.com/blog/spec-driven-development-ai-agents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Schema-erzwungene Dekodierung garantiert die FORM, nicht den Inhalt — Inhalts-Gates (z. B. Rot-Beleg eines Testlaufs, Pfad-Belege) bleiben zusätzlich nötig. Für Orchestrierung sind Rückgabe-Schemata der Vertrag zwischen Agenten: ohne sie kommt nur 'fertig' zurück. Quellen: https://platform.openai.com/docs/guides/structured-outputs ; https://github.com/567-labs/instructor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Cluster-Übersicht: objektive Erfolgssignale sind die Voraussetzung jeder Agenten-Autonomie — ohne Grün/Rot-Wahrheit optimiert der Agent ins Leere.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Ein Stop-Hook kann Logik-Änderungen ohne begleitenden Test zurückweisen; die Rot-zuerst-Reihenfolge ist nachträglich nicht messbar und bleibt Prompt-Vertrag. Mutation-Testing prüft gezielt die Prüfer: überlebende Mutanten = Test-Lücken. Quellen: https://github.com/nizos/tdd-guard ; https://stryker-mutator.io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Statische Checks sind der billigste Verifikations-Layer: schneller und günstiger als jeder LLM-Review-Pass und zu 100 % reproduzierbar. Für Agenten zählt die Fehlermeldung doppelt — sie ist zugleich das nächste Prompt-Feedback. Quellen: https://semgrep.dev ; https://codeql.github.com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SWE-bench ist de-facto-Standard mit fünf Varianten; Terminal-Bench (Stanford/Laude) misst Terminal-Arbeit jenseits von Python-Patches; METR misst die Länge autonom lösbarer Aufgaben im Zeitverlauf. Position-Paper 2026: die Benchmarks sind gegen agentisches Software-Engineering fehlausgerichtet — Leaderboard-Zahlen nicht als Betriebs-Garantie lesen. Quellen: https://www.swebench.com ; https://www.tbench.ai ; https://arxiv.org/abs/2606.17799 ; https://metr.org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Der 2026-Konsens: Trace → Testfall → CI-Eval als geschlossener Kreis; jede Regression wird zum dauerhaften Prüfstein. Klein anfangen: 20 kuratierte Aufgaben mit klarer Pass-Definition schlagen 1000 vage. Quellen: https://www.braintrust.dev/articles/agent-observability-complete-guide-2026 ; https://promptfoo.dev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Judges sind Mess-Infrastruktur (dieser Cluster); als Bau-Muster im Agenten-Loop (Evaluator-Optimizer) siehe die Architektur-Sektion. Regel: Judge-Urteile stichprobenweise gegen menschliche Urteile prüfen, sonst misst man den Bias des Judges. Quellen: https://github.com/braintrustdata/autoevals ; https://github.com/confident-ai/deepeval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Wenn Agenten den Durchsatz vervielfachen, wird menschliches Review zum Engpass — Review-Agenten filtern vor, Merge-Queues verhindern das Rennen um main. Quellen: https://coderabbit.ai ; https://graphite.dev ; https://docs.github.com/en/copilot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Der Agent erzeugt aus dem Durchklicken dauerhafte E2E-Specs — einmal beurteilt, danach gratis in CI. Grenze: UI-Automation über MCP hat Eigenheiten (Fokus, Popover) — API- und DB-Assertions als Anker dazu. Quellen: https://github.com/microsoft/playwright-mcp ; https://github.com/ChromeDevTools/chrome-devtools-mcp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Cluster-Übersicht: Inferenz dominiert die Betriebskosten agentischer Systeme — Kostensteuerung ist Harness-Arbeit, nicht Einkaufs-Verhandlung.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Praxisregel: das teuerste Modell nie als Default, sondern als begründete Ausnahme; Downgrades nur, wenn das Ergebnis nachweislich identisch bleibt. Berichtete Einsparungen von Routing+Caching-Stacks liegen 2026 bei 70–85 % gegenüber unoptimierten Baselines. Quellen: https://github.com/lm-sys/RouteLLM ; https://www.requesty.ai/blog/ai-agent-cost-optimization-how-to-cut-llm-spend-by-80-percent-with-routing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System-Prompt, Tool-Definitionen und Regeln machen oft 40–60 % jedes Requests aus und sind über alle Calls identisch — der ideale Cache-Fall. Wer mitten im Verlauf etwas umschreibt, invalidiert den Cache ab dieser Stelle und zahlt alles neu. Quellen: https://docs.anthropic.com/en/docs/build-with-claude/prompt-caching ; https://manus.im/blog/Context-Engineering-for-AI-Agents-Lessons-from-Building-Manus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Ein Agent mit kleinem Fenster kann trotzdem Millionen Tokens verbrennen, wenn er viele Turns läuft — deshalb kumulativen Verbrauch UND Fenster überwachen. An der Schwelle nicht killen, sondern sauber abschliessen lassen (Stand sichern, strukturiert berichten) und frisch neu aufsetzen. Quellen: https://docs.litellm.ai ; https://zylos.ai/research/2026-05-02-ai-agent-cost-engineering-token-economics/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Ein einziger ungefilterter Build-Log kann jeden weiteren Turn der Session verteuern — Verdichtung ist deshalb Dispatch-Regel, nicht Kür. Auch Tool-DESIGN gehört dazu: Tools sollten knappe, paginierte Antworten liefern statt Roh-Dumps. Quellen: https://www.anthropic.com/engineering/writing-tools-for-agents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Cluster-Übersicht: was der Agent über Sessions hinweg wissen soll — und wie Wissen so abgelegt wird, dass er es findet. Kontext-Management INNERHALB einer Session: vorige Sektion.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Profile der drei Führenden: Mem0 für 'was hat der User mir gesagt', Zep für 'was galt wann' (temporaler Graph), Letta/MemGPT lässt den Agenten Memory-Blöcke selbst lesen und schreiben. Risiko Memory-Poisoning: einmal Gemerktes wirkt in jeder Folgesession — Memory-Einträge brauchen Review oder Verfall. Quellen: https://mem0.ai/blog/state-of-ai-agent-memory-2026 ; https://www.letta.com ; https://www.getzep.com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Coding-Agents navigieren Code am besten wie Entwickler: mit Such- und Struktur-Werkzeugen zur Laufzeit statt mit vorab eingebetteten Indexen, die veralten. Embedding-RAG behält seinen Platz bei natürlicher Sprache (Doku, Tickets, Wikis). Quellen: https://aider.chat/docs/repomap.html ; https://ast-grep.github.io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Jede Architektur-Entscheidung, die nur in Köpfen oder Chat-Verläufen lebt, existiert für den Agenten nicht. ADRs und Runbooks zahlen doppelt: Menschen-Onboarding und Agenten-Kontext aus derselben Quelle. Quellen: https://adr.github.io ; https://llmstxt.org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Cluster-Übersicht: Agenten als Betriebs-Software behandeln — messen, wiederanlaufen, zurückrollen, reproduzieren.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Der Kategorie-Wandel 2026: von LLM-Call-Logging zu Agenten-Observability — Fehler in Multi-Turn-Sessions sind auf Einzel-Call-Ebene unsichtbar. Best Practice: Produktions-Traces direkt in Testfälle und CI-Evals überführen (geschlossener Kreis). Quellen: https://opentelemetry.io/docs/specs/semconv/gen-ai/ ; https://langfuse.com ; https://www.braintrust.dev/articles/agent-observability-complete-guide-2026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Checkpoints machen Fehlversuche billig: Code-Stand und Gesprächs-Stand lassen sich getrennt oder gemeinsam zurücksetzen. Framework-seitig persistiert ein Checkpointer jeden Graph-Schritt — Grundlage für Resume, Fork und Time-Travel-Debugging. Quellen: https://code.claude.com/docs/en/checkpointing ; https://langchain-ai.github.io/langgraph/concepts/persistence/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Durable-Execution-Engines schreiben jeden Schritt in ein Journal und spielen ihn nach einem Absturz deterministisch wieder ein — der Agent merkt davon nichts. Relevant, sobald Agenten auf externe Ereignisse warten (CI-Ergebnis, Freigabe, Webhook). Quellen: https://temporal.io ; https://www.inngest.com ; https://restate.dev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 MAST-Studie (Why Do Multi-Agent LLM Systems Fail?) zeigt: die Mehrzahl der Ausfälle entsteht durch schlechte Spezifikation und fehlende Verifikation — beides Harness-Themen, kein Modell-Upgrade nötig. Quellen: https://arxiv.org/abs/2503.13657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Der Agent erbt jede Reibung der Umgebung: flakige Tests, langsame Builds und kryptische Fehler verschlechtern direkt seine Feedback-Schleife. Was für neue Team-Mitglieder gilt, gilt für Agenten doppelt — Onboarding-Qualität ist Harness-Qualität. Quellen: https://containers.dev ; https://nixos.org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Prompts und Agent-Konfiguration verdienen denselben Lebenszyklus wie Code: PR, Review, CI-Eval, Rollback-Fähigkeit. Quellen: https://langfuse.com/docs/prompts ; https://promptlayer.com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Cluster-Übersicht: die Schnittstellen des Agenten zur Welt — gut geschnittene Tools und Standard-Protokolle statt N×M-Eigenbau.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Tools für Agenten sind Ergonomie-Design: Namensräume, eindeutige Parameter, tolerante Eingaben, verdichtete Ausgaben. Empfehlung: Tools gegen echte Agent-Transkripte evaluieren und iterativ verbessern — der Agent selbst hilft beim Umschreiben der Beschreibungen. Quellen: https://www.anthropic.com/engineering/writing-tools-for-agents ; https://arxiv.org/abs/2604.03515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MCP löst die N×M-Integration: ein Server bedient alle kompatiblen Clients. Zwei Betriebs-Fallen: grosse Tool-Kataloge fressen Kontext (deshalb Schemas erst bei Bedarf laden) und fremde Server sind Vertrauensfragen (siehe Sicherheits-Cluster). Quellen: https://modelcontextprotocol.io ; https://github.com/modelcontextprotocol/registry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A2A beschreibt, wie Agenten einander finden (Agent Card) und Aufgaben austauschen; AG-UI standardisiert den Event-Strom zwischen Agent und Benutzeroberfläche. Faustregel: MCP für Werkzeuge, A2A für Gegenüber mit eigener Agenda. Quellen: https://github.com/a2aproject/A2A ; https://github.com/ag-ui-protocol/ag-ui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 Provider-SDKs liefern den Harness der eigenen Produkte als Baukasten (z. B. Claude Agent SDK = Kern von Claude Code); die Frameworks bleiben provider-neutral. Architektur-Muster dazu in der vorigen Sektion — hier geht es um die Werkzeuglandschaft und ihre Betriebsreife. Quellen: https://langchain-ai.github.io/langgraph/ ; https://www.anthropic.com/engineering/building-agents-with-the-claude-agent-sdk ; https://openai.github.io/openai-agents-python/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Cluster-Übersicht: der Agent ist ein privilegierter Akteur, der Fremdtext liest — Sicherheit ist Architekturfrage des Harness, nicht Filter-Feature.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Stand 2026 bleibt Prompt Injection ungelöst; die tragfähigen Antworten sind strukturell: Fähigkeiten begrenzen (Sandbox, Egress, Permissions), untrusted Input als Daten markieren, kritische Aktionen gaten. CaMeL (DeepMind) erzwingt die Trennung per Design: Kontrollfluss aus vertrauenswürdigem Code, Fremdtext nur als Wert. Quellen: https://genai.owasp.org ; https://arxiv.org/abs/2503.18813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Der Begriff stammt von Simon Willison und ist 2026 Standard-Vokabular der Agenten-Security: nicht ein Feature ist gefährlich, sondern die Kombination dreier Fähigkeiten. Design-Konsequenz: pro Agent prüfen, welcher der drei Schenkel wirklich gebraucht wird — und die anderen hart kappen. Quellen: https://simonwillison.net/2025/Jun/16/the-lethal-trifecta/ ; https://www.sophos.com/en-us/blog/inside-the-lethal-trifecta-blast-radius-reduction-in-ai-agent-deployments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Ein kompromittierter Agent hat exakt die Rechte seiner Credentials — Scope und Lebensdauer der Tokens sind darum die wirksamste Schadensbegrenzung. Lese- und Schreibrechte trennen; produktive Systeme nur über explizite Gates. Quellen: https://airia.com/blog/ai-security-in-2026-prompt-injection-the-lethal-trifecta-and-how-to-defend/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Agenten installieren schneller, als Menschen prüfen — jede Installations-Entscheidung des Agenten ist eine Vertrauens-Entscheidung des Harness. Tool-Poisoning versteckt Anweisungen in Tool-Beschreibungen, die nur das Modell sieht; Server-Updates können nachträglich kippen (Rug Pull). Quellen: https://invariantlabs.ai/blog/mcp-security-notification-tool-poisoning-attacks ; https://en.wikipedia.org/wiki/Slopsquatting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Wenn Agenten ändern, braucht jede Änderung eine belastbare Herkunfts-Kette: welcher Agent, welche Session, welches Modell, welcher Auftrag. Das ist die Grundlage für Incident-Forensik, Reviews und regulatorische Nachweise. Quellen: https://slsa.dev ; https://opentelemetry.io/docs/specs/semconv/gen-ai/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Cluster-Übersicht: Autonomie braucht bewusst gesetzte Übergabepunkte — der Mensch als geplanter Bestandteil des Systems, nicht als Notbremse.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Das Muster: der Agent läuft durch, sammelt offene Entscheidungen als Daten und legt sie dem Menschen an EINEM Gate gebündelt vor — statt zehnmal zu unterbrechen oder zehnmal still zu raten. Frameworks bilden das als wartende Human-Steps ab (siehe Durable Execution). Quellen: https://langchain-ai.github.io/langgraph/concepts/human_in_the_loop/ ; https://github.com/humanlayer/12-factor-agents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Plan-Modi trennen Denken und Handeln technisch: der Agent kann lesen und planen, aber nichts ändern, bis der Plan freigegeben ist. Der freigegebene Plan wird zum Vertrag — stilles Abweichen ist ein eigener Fehlerfall, den Hooks sichtbar machen können. Quellen: https://code.claude.com/docs/en/common-workflows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Zwei Ebenen: interaktives Steering im Terminal (unterbrechen, Nachricht einreihen, weiterlaufen lassen) und programmatische Interrupts, die den Zustand einfrieren, bis ein Mensch oder System antwortet. Quellen: https://langchain-ai.github.io/langgraph/concepts/human_in_the_loop/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Vertrauen ist messbar: wie oft musste ein Mensch korrigierend eingreifen? Autonomie wird wie bei neuen Team-Mitgliedern schrittweise erweitert — pro Aufgabentyp, belegt durch Telemetrie statt Bauchgefühl. Quellen: https://www.faros.ai/blog/harness-engineering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Quellen der Harness-Recherche (August 2026), Teil 1. Weitere themenspezifische Quellen stehen in den Notizen der jeweiligen Folie.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Quellen der Harness-Recherche (August 2026), Teil 2. Leaderboard-Zahlen wurden bewusst nicht auf Folien übernommen (schnell veraltet, methodisch umstritten).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" showMasterSp="0" type="title">
  <p:cSld name="TITLE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832051" y="2244950"/>
            <a:ext cx="74799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66700" lvl="0" marL="0" marR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200"/>
              <a:buFont typeface="Maven Pro Medium"/>
              <a:buChar char="●"/>
              <a:defRPr b="0" sz="4200">
                <a:solidFill>
                  <a:srgbClr val="F3F3F3"/>
                </a:solidFill>
                <a:latin typeface="Maven Pro Medium"/>
                <a:ea typeface="Maven Pro Medium"/>
                <a:cs typeface="Maven Pro Medium"/>
                <a:sym typeface="Maven Pro Medium"/>
              </a:defRPr>
            </a:lvl1pPr>
            <a:lvl2pPr indent="-88900" lvl="1" marL="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4572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9144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18288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599350" y="3308563"/>
            <a:ext cx="3945300" cy="45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90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9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9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9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9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9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9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9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9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26950" y="4214442"/>
            <a:ext cx="2490099" cy="790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schnitt" showMasterSp="0">
  <p:cSld name="TITLE_1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ctrTitle"/>
          </p:nvPr>
        </p:nvSpPr>
        <p:spPr>
          <a:xfrm>
            <a:off x="832050" y="956900"/>
            <a:ext cx="7479900" cy="16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66700" lvl="0" marL="0" marR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200"/>
              <a:buFont typeface="Maven Pro Medium"/>
              <a:buChar char="●"/>
              <a:defRPr b="0" sz="4200">
                <a:solidFill>
                  <a:srgbClr val="F3F3F3"/>
                </a:solidFill>
                <a:latin typeface="Maven Pro Medium"/>
                <a:ea typeface="Maven Pro Medium"/>
                <a:cs typeface="Maven Pro Medium"/>
                <a:sym typeface="Maven Pro Medium"/>
              </a:defRPr>
            </a:lvl1pPr>
            <a:lvl2pPr indent="-88900" lvl="1" marL="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4572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9144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18288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16" name="Google Shape;16;p3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>
            <a:off x="5107975" y="1484125"/>
            <a:ext cx="4036024" cy="403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1035050" y="277825"/>
            <a:ext cx="72834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Font typeface="Maven Pro Medium"/>
              <a:buChar char="●"/>
              <a:defRPr b="0" sz="3600">
                <a:latin typeface="Maven Pro Medium"/>
                <a:ea typeface="Maven Pro Medium"/>
                <a:cs typeface="Maven Pro Medium"/>
                <a:sym typeface="Maven Pro Medium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marL="4572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marL="9144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marL="13716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marL="18288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33475" y="1177401"/>
            <a:ext cx="7283400" cy="41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spcBef>
                <a:spcPts val="90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>
                <a:solidFill>
                  <a:srgbClr val="434343"/>
                </a:solidFill>
              </a:defRPr>
            </a:lvl1pPr>
            <a:lvl2pPr indent="-406400" lvl="1" marL="914400" algn="l">
              <a:spcBef>
                <a:spcPts val="900"/>
              </a:spcBef>
              <a:spcAft>
                <a:spcPts val="0"/>
              </a:spcAft>
              <a:buClr>
                <a:srgbClr val="434343"/>
              </a:buClr>
              <a:buSzPts val="2800"/>
              <a:buChar char="•"/>
              <a:defRPr>
                <a:solidFill>
                  <a:srgbClr val="434343"/>
                </a:solidFill>
              </a:defRPr>
            </a:lvl2pPr>
            <a:lvl3pPr indent="-406400" lvl="2" marL="1371600" algn="l"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2800"/>
              <a:buChar char="•"/>
              <a:defRPr>
                <a:solidFill>
                  <a:srgbClr val="434343"/>
                </a:solidFill>
              </a:defRPr>
            </a:lvl3pPr>
            <a:lvl4pPr indent="-406400" lvl="3" marL="1828800" algn="l">
              <a:spcBef>
                <a:spcPts val="700"/>
              </a:spcBef>
              <a:spcAft>
                <a:spcPts val="0"/>
              </a:spcAft>
              <a:buClr>
                <a:srgbClr val="434343"/>
              </a:buClr>
              <a:buSzPts val="2800"/>
              <a:buChar char="•"/>
              <a:defRPr>
                <a:solidFill>
                  <a:srgbClr val="434343"/>
                </a:solidFill>
              </a:defRPr>
            </a:lvl4pPr>
            <a:lvl5pPr indent="-406400" lvl="4" marL="2286000" algn="l"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2800"/>
              <a:buChar char="•"/>
              <a:defRPr>
                <a:solidFill>
                  <a:srgbClr val="434343"/>
                </a:solidFill>
              </a:defRPr>
            </a:lvl5pPr>
            <a:lvl6pPr indent="-406400" lvl="5" marL="2743200" algn="l"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2800"/>
              <a:buChar char="•"/>
              <a:defRPr>
                <a:solidFill>
                  <a:srgbClr val="434343"/>
                </a:solidFill>
              </a:defRPr>
            </a:lvl6pPr>
            <a:lvl7pPr indent="-406400" lvl="6" marL="3200400" algn="l"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2800"/>
              <a:buChar char="•"/>
              <a:defRPr>
                <a:solidFill>
                  <a:srgbClr val="434343"/>
                </a:solidFill>
              </a:defRPr>
            </a:lvl7pPr>
            <a:lvl8pPr indent="-406400" lvl="7" marL="3657600" algn="l"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2800"/>
              <a:buChar char="•"/>
              <a:defRPr>
                <a:solidFill>
                  <a:srgbClr val="434343"/>
                </a:solidFill>
              </a:defRPr>
            </a:lvl8pPr>
            <a:lvl9pPr indent="-406400" lvl="8" marL="4114800" algn="l"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2800"/>
              <a:buChar char="•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/>
        </p:nvSpPr>
        <p:spPr>
          <a:xfrm>
            <a:off x="8325300" y="5404150"/>
            <a:ext cx="563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384622" y="5233750"/>
            <a:ext cx="504300" cy="4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 1">
  <p:cSld name="OBJECT_1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1035050" y="277813"/>
            <a:ext cx="72945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2AFE0"/>
              </a:buClr>
              <a:buSzPts val="3600"/>
              <a:buFont typeface="Maven Pro Medium"/>
              <a:buChar char="●"/>
              <a:defRPr b="0">
                <a:solidFill>
                  <a:srgbClr val="32AFE0"/>
                </a:solidFill>
                <a:latin typeface="Maven Pro Medium"/>
                <a:ea typeface="Maven Pro Medium"/>
                <a:cs typeface="Maven Pro Medium"/>
                <a:sym typeface="Maven Pro Medium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marL="4572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marL="9144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marL="13716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marL="18288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1033463" y="1177396"/>
            <a:ext cx="7283400" cy="3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spcBef>
                <a:spcPts val="900"/>
              </a:spcBef>
              <a:spcAft>
                <a:spcPts val="0"/>
              </a:spcAft>
              <a:buClr>
                <a:srgbClr val="EFEFEF"/>
              </a:buClr>
              <a:buSzPts val="3000"/>
              <a:buChar char="●"/>
              <a:defRPr>
                <a:solidFill>
                  <a:srgbClr val="EFEFEF"/>
                </a:solidFill>
              </a:defRPr>
            </a:lvl1pPr>
            <a:lvl2pPr indent="-406400" lvl="1" marL="914400" algn="l">
              <a:spcBef>
                <a:spcPts val="900"/>
              </a:spcBef>
              <a:spcAft>
                <a:spcPts val="0"/>
              </a:spcAft>
              <a:buClr>
                <a:srgbClr val="EFEFEF"/>
              </a:buClr>
              <a:buSzPts val="2800"/>
              <a:buChar char="•"/>
              <a:defRPr>
                <a:solidFill>
                  <a:srgbClr val="EFEFEF"/>
                </a:solidFill>
              </a:defRPr>
            </a:lvl2pPr>
            <a:lvl3pPr indent="-406400" lvl="2" marL="1371600" algn="l">
              <a:spcBef>
                <a:spcPts val="800"/>
              </a:spcBef>
              <a:spcAft>
                <a:spcPts val="0"/>
              </a:spcAft>
              <a:buClr>
                <a:srgbClr val="EFEFEF"/>
              </a:buClr>
              <a:buSzPts val="2800"/>
              <a:buChar char="•"/>
              <a:defRPr>
                <a:solidFill>
                  <a:srgbClr val="EFEFEF"/>
                </a:solidFill>
              </a:defRPr>
            </a:lvl3pPr>
            <a:lvl4pPr indent="-406400" lvl="3" marL="1828800" algn="l">
              <a:spcBef>
                <a:spcPts val="700"/>
              </a:spcBef>
              <a:spcAft>
                <a:spcPts val="0"/>
              </a:spcAft>
              <a:buClr>
                <a:srgbClr val="EFEFEF"/>
              </a:buClr>
              <a:buSzPts val="2800"/>
              <a:buChar char="•"/>
              <a:defRPr>
                <a:solidFill>
                  <a:srgbClr val="EFEFEF"/>
                </a:solidFill>
              </a:defRPr>
            </a:lvl4pPr>
            <a:lvl5pPr indent="-406400" lvl="4" marL="2286000" algn="l">
              <a:spcBef>
                <a:spcPts val="600"/>
              </a:spcBef>
              <a:spcAft>
                <a:spcPts val="0"/>
              </a:spcAft>
              <a:buClr>
                <a:srgbClr val="EFEFEF"/>
              </a:buClr>
              <a:buSzPts val="2800"/>
              <a:buChar char="•"/>
              <a:defRPr>
                <a:solidFill>
                  <a:srgbClr val="EFEFEF"/>
                </a:solidFill>
              </a:defRPr>
            </a:lvl5pPr>
            <a:lvl6pPr indent="-406400" lvl="5" marL="2743200" algn="l">
              <a:spcBef>
                <a:spcPts val="600"/>
              </a:spcBef>
              <a:spcAft>
                <a:spcPts val="0"/>
              </a:spcAft>
              <a:buClr>
                <a:srgbClr val="EFEFEF"/>
              </a:buClr>
              <a:buSzPts val="2800"/>
              <a:buChar char="•"/>
              <a:defRPr>
                <a:solidFill>
                  <a:srgbClr val="EFEFEF"/>
                </a:solidFill>
              </a:defRPr>
            </a:lvl6pPr>
            <a:lvl7pPr indent="-406400" lvl="6" marL="3200400" algn="l">
              <a:spcBef>
                <a:spcPts val="600"/>
              </a:spcBef>
              <a:spcAft>
                <a:spcPts val="0"/>
              </a:spcAft>
              <a:buClr>
                <a:srgbClr val="EFEFEF"/>
              </a:buClr>
              <a:buSzPts val="2800"/>
              <a:buChar char="•"/>
              <a:defRPr>
                <a:solidFill>
                  <a:srgbClr val="EFEFEF"/>
                </a:solidFill>
              </a:defRPr>
            </a:lvl7pPr>
            <a:lvl8pPr indent="-406400" lvl="7" marL="3657600" algn="l">
              <a:spcBef>
                <a:spcPts val="600"/>
              </a:spcBef>
              <a:spcAft>
                <a:spcPts val="0"/>
              </a:spcAft>
              <a:buClr>
                <a:srgbClr val="EFEFEF"/>
              </a:buClr>
              <a:buSzPts val="2800"/>
              <a:buChar char="•"/>
              <a:defRPr>
                <a:solidFill>
                  <a:srgbClr val="EFEFEF"/>
                </a:solidFill>
              </a:defRPr>
            </a:lvl8pPr>
            <a:lvl9pPr indent="-406400" lvl="8" marL="4114800" algn="l">
              <a:spcBef>
                <a:spcPts val="600"/>
              </a:spcBef>
              <a:spcAft>
                <a:spcPts val="0"/>
              </a:spcAft>
              <a:buClr>
                <a:srgbClr val="EFEFEF"/>
              </a:buClr>
              <a:buSzPts val="2800"/>
              <a:buChar char="•"/>
              <a:defRPr>
                <a:solidFill>
                  <a:srgbClr val="EFEFEF"/>
                </a:solidFill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556784" y="5277612"/>
            <a:ext cx="548700" cy="4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F3F3F3"/>
                </a:solidFill>
              </a:defRPr>
            </a:lvl1pPr>
            <a:lvl2pPr lvl="1">
              <a:buNone/>
              <a:defRPr>
                <a:solidFill>
                  <a:srgbClr val="F3F3F3"/>
                </a:solidFill>
              </a:defRPr>
            </a:lvl2pPr>
            <a:lvl3pPr lvl="2">
              <a:buNone/>
              <a:defRPr>
                <a:solidFill>
                  <a:srgbClr val="F3F3F3"/>
                </a:solidFill>
              </a:defRPr>
            </a:lvl3pPr>
            <a:lvl4pPr lvl="3">
              <a:buNone/>
              <a:defRPr>
                <a:solidFill>
                  <a:srgbClr val="F3F3F3"/>
                </a:solidFill>
              </a:defRPr>
            </a:lvl4pPr>
            <a:lvl5pPr lvl="4">
              <a:buNone/>
              <a:defRPr>
                <a:solidFill>
                  <a:srgbClr val="F3F3F3"/>
                </a:solidFill>
              </a:defRPr>
            </a:lvl5pPr>
            <a:lvl6pPr lvl="5">
              <a:buNone/>
              <a:defRPr>
                <a:solidFill>
                  <a:srgbClr val="F3F3F3"/>
                </a:solidFill>
              </a:defRPr>
            </a:lvl6pPr>
            <a:lvl7pPr lvl="6">
              <a:buNone/>
              <a:defRPr>
                <a:solidFill>
                  <a:srgbClr val="F3F3F3"/>
                </a:solidFill>
              </a:defRPr>
            </a:lvl7pPr>
            <a:lvl8pPr lvl="7">
              <a:buNone/>
              <a:defRPr>
                <a:solidFill>
                  <a:srgbClr val="F3F3F3"/>
                </a:solidFill>
              </a:defRPr>
            </a:lvl8pPr>
            <a:lvl9pPr lvl="8">
              <a:buNone/>
              <a:defRPr>
                <a:solidFill>
                  <a:srgbClr val="F3F3F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ei Inhalte" type="twoObj">
  <p:cSld name="TWO_OBJECT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1035050" y="277813"/>
            <a:ext cx="72945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marL="4572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marL="9144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marL="13716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marL="18288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1033463" y="1177396"/>
            <a:ext cx="3565500" cy="3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900"/>
              </a:spcBef>
              <a:spcAft>
                <a:spcPts val="0"/>
              </a:spcAft>
              <a:buSzPts val="3000"/>
              <a:buChar char="●"/>
              <a:defRPr/>
            </a:lvl1pPr>
            <a:lvl2pPr indent="-406400" lvl="1" marL="914400">
              <a:spcBef>
                <a:spcPts val="9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>
              <a:spcBef>
                <a:spcPts val="8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>
              <a:spcBef>
                <a:spcPts val="7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>
              <a:spcBef>
                <a:spcPts val="6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>
              <a:spcBef>
                <a:spcPts val="6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>
              <a:spcBef>
                <a:spcPts val="6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>
              <a:spcBef>
                <a:spcPts val="6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>
              <a:spcBef>
                <a:spcPts val="6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2" type="body"/>
          </p:nvPr>
        </p:nvSpPr>
        <p:spPr>
          <a:xfrm>
            <a:off x="4751388" y="1177396"/>
            <a:ext cx="3565500" cy="3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900"/>
              </a:spcBef>
              <a:spcAft>
                <a:spcPts val="0"/>
              </a:spcAft>
              <a:buSzPts val="3000"/>
              <a:buChar char="●"/>
              <a:defRPr/>
            </a:lvl1pPr>
            <a:lvl2pPr indent="-406400" lvl="1" marL="914400">
              <a:spcBef>
                <a:spcPts val="9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>
              <a:spcBef>
                <a:spcPts val="8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>
              <a:spcBef>
                <a:spcPts val="7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>
              <a:spcBef>
                <a:spcPts val="6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>
              <a:spcBef>
                <a:spcPts val="6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>
              <a:spcBef>
                <a:spcPts val="6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>
              <a:spcBef>
                <a:spcPts val="6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>
              <a:spcBef>
                <a:spcPts val="6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556784" y="5277612"/>
            <a:ext cx="548700" cy="4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er" type="blank">
  <p:cSld name="BLANK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556784" y="5277612"/>
            <a:ext cx="548700" cy="4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3000"/>
              <a:buChar char="●"/>
              <a:defRPr sz="3000"/>
            </a:lvl1pPr>
            <a:lvl2pPr indent="-406400" lvl="1" marL="914400">
              <a:spcBef>
                <a:spcPts val="900"/>
              </a:spcBef>
              <a:spcAft>
                <a:spcPts val="0"/>
              </a:spcAft>
              <a:buSzPts val="2800"/>
              <a:buChar char="■"/>
              <a:defRPr sz="2800"/>
            </a:lvl2pPr>
            <a:lvl3pPr indent="-406400" lvl="2" marL="1371600">
              <a:spcBef>
                <a:spcPts val="8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>
              <a:spcBef>
                <a:spcPts val="7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>
              <a:spcBef>
                <a:spcPts val="6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>
              <a:spcBef>
                <a:spcPts val="6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>
              <a:spcBef>
                <a:spcPts val="6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>
              <a:spcBef>
                <a:spcPts val="6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>
              <a:spcBef>
                <a:spcPts val="6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400"/>
            </a:lvl1pPr>
            <a:lvl2pPr lvl="1">
              <a:buNone/>
              <a:defRPr sz="1400"/>
            </a:lvl2pPr>
            <a:lvl3pPr lvl="2">
              <a:buNone/>
              <a:defRPr sz="1400"/>
            </a:lvl3pPr>
            <a:lvl4pPr lvl="3">
              <a:buNone/>
              <a:defRPr sz="1400"/>
            </a:lvl4pPr>
            <a:lvl5pPr lvl="4">
              <a:buNone/>
              <a:defRPr sz="1400"/>
            </a:lvl5pPr>
            <a:lvl6pPr lvl="5">
              <a:buNone/>
              <a:defRPr sz="1400"/>
            </a:lvl6pPr>
            <a:lvl7pPr lvl="6">
              <a:buNone/>
              <a:defRPr sz="1400"/>
            </a:lvl7pPr>
            <a:lvl8pPr lvl="7">
              <a:buNone/>
              <a:defRPr sz="1400"/>
            </a:lvl8pPr>
            <a:lvl9pPr lvl="8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400"/>
            </a:lvl1pPr>
            <a:lvl2pPr lvl="1">
              <a:buNone/>
              <a:defRPr sz="1400"/>
            </a:lvl2pPr>
            <a:lvl3pPr lvl="2">
              <a:buNone/>
              <a:defRPr sz="1400"/>
            </a:lvl3pPr>
            <a:lvl4pPr lvl="3">
              <a:buNone/>
              <a:defRPr sz="1400"/>
            </a:lvl4pPr>
            <a:lvl5pPr lvl="4">
              <a:buNone/>
              <a:defRPr sz="1400"/>
            </a:lvl5pPr>
            <a:lvl6pPr lvl="5">
              <a:buNone/>
              <a:defRPr sz="1400"/>
            </a:lvl6pPr>
            <a:lvl7pPr lvl="6">
              <a:buNone/>
              <a:defRPr sz="1400"/>
            </a:lvl7pPr>
            <a:lvl8pPr lvl="7">
              <a:buNone/>
              <a:defRPr sz="1400"/>
            </a:lvl8pPr>
            <a:lvl9pPr lvl="8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ctrTitle"/>
          </p:nvPr>
        </p:nvSpPr>
        <p:spPr>
          <a:xfrm>
            <a:off x="311708" y="827306"/>
            <a:ext cx="8520600" cy="228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6" name="Google Shape;46;p11"/>
          <p:cNvSpPr txBox="1"/>
          <p:nvPr>
            <p:ph idx="1" type="subTitle"/>
          </p:nvPr>
        </p:nvSpPr>
        <p:spPr>
          <a:xfrm>
            <a:off x="311700" y="3149028"/>
            <a:ext cx="8520600" cy="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title"/>
          </p:nvPr>
        </p:nvSpPr>
        <p:spPr>
          <a:xfrm>
            <a:off x="311700" y="2389833"/>
            <a:ext cx="8520600" cy="9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Google Sans Medium"/>
              <a:buNone/>
              <a:defRPr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Char char="●"/>
              <a:defRPr>
                <a:latin typeface="Google Sans"/>
                <a:ea typeface="Google Sans"/>
                <a:cs typeface="Google Sans"/>
                <a:sym typeface="Google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○"/>
              <a:defRPr>
                <a:latin typeface="Google Sans"/>
                <a:ea typeface="Google Sans"/>
                <a:cs typeface="Google Sans"/>
                <a:sym typeface="Google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■"/>
              <a:defRPr>
                <a:latin typeface="Google Sans"/>
                <a:ea typeface="Google Sans"/>
                <a:cs typeface="Google Sans"/>
                <a:sym typeface="Google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●"/>
              <a:defRPr>
                <a:latin typeface="Google Sans"/>
                <a:ea typeface="Google Sans"/>
                <a:cs typeface="Google Sans"/>
                <a:sym typeface="Google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○"/>
              <a:defRPr>
                <a:latin typeface="Google Sans"/>
                <a:ea typeface="Google Sans"/>
                <a:cs typeface="Google Sans"/>
                <a:sym typeface="Google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■"/>
              <a:defRPr>
                <a:latin typeface="Google Sans"/>
                <a:ea typeface="Google Sans"/>
                <a:cs typeface="Google Sans"/>
                <a:sym typeface="Google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●"/>
              <a:defRPr>
                <a:latin typeface="Google Sans"/>
                <a:ea typeface="Google Sans"/>
                <a:cs typeface="Google Sans"/>
                <a:sym typeface="Google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○"/>
              <a:defRPr>
                <a:latin typeface="Google Sans"/>
                <a:ea typeface="Google Sans"/>
                <a:cs typeface="Google Sans"/>
                <a:sym typeface="Google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■"/>
              <a:defRPr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311700" y="1280528"/>
            <a:ext cx="39999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" name="Google Shape;58;p14"/>
          <p:cNvSpPr txBox="1"/>
          <p:nvPr>
            <p:ph idx="2" type="body"/>
          </p:nvPr>
        </p:nvSpPr>
        <p:spPr>
          <a:xfrm>
            <a:off x="4832400" y="1280528"/>
            <a:ext cx="39999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311700" y="1544000"/>
            <a:ext cx="2808000" cy="35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490250" y="500167"/>
            <a:ext cx="6367800" cy="454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4572000" y="-139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 txBox="1"/>
          <p:nvPr>
            <p:ph type="title"/>
          </p:nvPr>
        </p:nvSpPr>
        <p:spPr>
          <a:xfrm>
            <a:off x="265500" y="1370194"/>
            <a:ext cx="4045200" cy="16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3" name="Google Shape;73;p18"/>
          <p:cNvSpPr txBox="1"/>
          <p:nvPr>
            <p:ph idx="1" type="subTitle"/>
          </p:nvPr>
        </p:nvSpPr>
        <p:spPr>
          <a:xfrm>
            <a:off x="265500" y="3114528"/>
            <a:ext cx="4045200" cy="13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4" name="Google Shape;74;p18"/>
          <p:cNvSpPr txBox="1"/>
          <p:nvPr>
            <p:ph idx="2" type="body"/>
          </p:nvPr>
        </p:nvSpPr>
        <p:spPr>
          <a:xfrm>
            <a:off x="4939500" y="804528"/>
            <a:ext cx="3837000" cy="41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idx="1" type="body"/>
          </p:nvPr>
        </p:nvSpPr>
        <p:spPr>
          <a:xfrm>
            <a:off x="311700" y="4700639"/>
            <a:ext cx="59988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78" name="Google Shape;78;p19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/>
          <p:nvPr>
            <p:ph hasCustomPrompt="1" type="title"/>
          </p:nvPr>
        </p:nvSpPr>
        <p:spPr>
          <a:xfrm>
            <a:off x="311700" y="1229028"/>
            <a:ext cx="8520600" cy="218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1" name="Google Shape;81;p20"/>
          <p:cNvSpPr txBox="1"/>
          <p:nvPr>
            <p:ph idx="1" type="body"/>
          </p:nvPr>
        </p:nvSpPr>
        <p:spPr>
          <a:xfrm>
            <a:off x="311700" y="3502472"/>
            <a:ext cx="8520600" cy="14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 2">
  <p:cSld name="OBJECT_2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type="title"/>
          </p:nvPr>
        </p:nvSpPr>
        <p:spPr>
          <a:xfrm>
            <a:off x="1035050" y="277825"/>
            <a:ext cx="72834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Font typeface="Maven Pro Medium"/>
              <a:buNone/>
              <a:defRPr b="0" sz="3600">
                <a:latin typeface="Maven Pro Medium"/>
                <a:ea typeface="Maven Pro Medium"/>
                <a:cs typeface="Maven Pro Medium"/>
                <a:sym typeface="Maven Pro Medium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marL="45720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marL="91440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marL="137160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marL="182880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1033475" y="1177401"/>
            <a:ext cx="7283400" cy="41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spcBef>
                <a:spcPts val="90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 algn="l">
              <a:spcBef>
                <a:spcPts val="900"/>
              </a:spcBef>
              <a:spcAft>
                <a:spcPts val="0"/>
              </a:spcAft>
              <a:buClr>
                <a:srgbClr val="434343"/>
              </a:buClr>
              <a:buSzPts val="1400"/>
              <a:buChar char="•"/>
              <a:defRPr>
                <a:solidFill>
                  <a:srgbClr val="434343"/>
                </a:solidFill>
              </a:defRPr>
            </a:lvl2pPr>
            <a:lvl3pPr indent="-317500" lvl="2" marL="1371600" algn="l"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Char char="•"/>
              <a:defRPr>
                <a:solidFill>
                  <a:srgbClr val="434343"/>
                </a:solidFill>
              </a:defRPr>
            </a:lvl3pPr>
            <a:lvl4pPr indent="-317500" lvl="3" marL="1828800" algn="l">
              <a:spcBef>
                <a:spcPts val="700"/>
              </a:spcBef>
              <a:spcAft>
                <a:spcPts val="0"/>
              </a:spcAft>
              <a:buClr>
                <a:srgbClr val="434343"/>
              </a:buClr>
              <a:buSzPts val="1400"/>
              <a:buChar char="•"/>
              <a:defRPr>
                <a:solidFill>
                  <a:srgbClr val="434343"/>
                </a:solidFill>
              </a:defRPr>
            </a:lvl4pPr>
            <a:lvl5pPr indent="-317500" lvl="4" marL="2286000" algn="l"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•"/>
              <a:defRPr>
                <a:solidFill>
                  <a:srgbClr val="434343"/>
                </a:solidFill>
              </a:defRPr>
            </a:lvl5pPr>
            <a:lvl6pPr indent="-317500" lvl="5" marL="2743200" algn="l"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•"/>
              <a:defRPr>
                <a:solidFill>
                  <a:srgbClr val="434343"/>
                </a:solidFill>
              </a:defRPr>
            </a:lvl6pPr>
            <a:lvl7pPr indent="-317500" lvl="6" marL="3200400" algn="l"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•"/>
              <a:defRPr>
                <a:solidFill>
                  <a:srgbClr val="434343"/>
                </a:solidFill>
              </a:defRPr>
            </a:lvl7pPr>
            <a:lvl8pPr indent="-317500" lvl="7" marL="3657600" algn="l"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•"/>
              <a:defRPr>
                <a:solidFill>
                  <a:srgbClr val="434343"/>
                </a:solidFill>
              </a:defRPr>
            </a:lvl8pPr>
            <a:lvl9pPr indent="-317500" lvl="8" marL="4114800" algn="l"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•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8" name="Google Shape;88;p22"/>
          <p:cNvSpPr txBox="1"/>
          <p:nvPr/>
        </p:nvSpPr>
        <p:spPr>
          <a:xfrm>
            <a:off x="8325300" y="5404150"/>
            <a:ext cx="563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22"/>
          <p:cNvSpPr txBox="1"/>
          <p:nvPr>
            <p:ph idx="12" type="sldNum"/>
          </p:nvPr>
        </p:nvSpPr>
        <p:spPr>
          <a:xfrm>
            <a:off x="8384622" y="5233750"/>
            <a:ext cx="504300" cy="4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schnitt 1 1">
  <p:cSld name="TITLE_1_1_1">
    <p:bg>
      <p:bgPr>
        <a:solidFill>
          <a:srgbClr val="005A84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type="ctrTitle"/>
          </p:nvPr>
        </p:nvSpPr>
        <p:spPr>
          <a:xfrm>
            <a:off x="905100" y="951100"/>
            <a:ext cx="7333800" cy="346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904883" y="52361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schnitt" showMasterSp="0">
  <p:cSld name="TITLE_1">
    <p:bg>
      <p:bgPr>
        <a:solidFill>
          <a:srgbClr val="00000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type="ctrTitle"/>
          </p:nvPr>
        </p:nvSpPr>
        <p:spPr>
          <a:xfrm>
            <a:off x="832050" y="956900"/>
            <a:ext cx="7479900" cy="16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66700" lvl="0" marL="0" marR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200"/>
              <a:buFont typeface="Maven Pro Medium"/>
              <a:buChar char="●"/>
              <a:defRPr b="0" sz="4200">
                <a:solidFill>
                  <a:srgbClr val="F3F3F3"/>
                </a:solidFill>
                <a:latin typeface="Maven Pro Medium"/>
                <a:ea typeface="Maven Pro Medium"/>
                <a:cs typeface="Maven Pro Medium"/>
                <a:sym typeface="Maven Pro Medium"/>
              </a:defRPr>
            </a:lvl1pPr>
            <a:lvl2pPr indent="-177800" lvl="1" marL="0" marR="0" algn="l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177800" lvl="2" marL="0" marR="0" algn="l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177800" lvl="3" marL="0" marR="0" algn="l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177800" lvl="4" marL="0" marR="0" algn="l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177800" lvl="5" marL="457200" marR="0" algn="l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177800" lvl="6" marL="914400" marR="0" algn="l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177800" lvl="7" marL="1371600" marR="0" algn="l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177800" lvl="8" marL="1828800" marR="0" algn="l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pic>
        <p:nvPicPr>
          <p:cNvPr id="95" name="Google Shape;95;p24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>
            <a:off x="5107975" y="1484125"/>
            <a:ext cx="4036024" cy="403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2.xml"/><Relationship Id="rId1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1033463" y="1177396"/>
            <a:ext cx="7283400" cy="3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marR="0" algn="l">
              <a:spcBef>
                <a:spcPts val="90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Open Sans"/>
              <a:buChar char="●"/>
              <a:defRPr sz="3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406400" lvl="1" marL="914400" marR="0" algn="l">
              <a:spcBef>
                <a:spcPts val="90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Open Sans"/>
              <a:buChar char="•"/>
              <a:defRPr sz="2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406400" lvl="2" marL="1371600" marR="0" algn="l"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Open Sans"/>
              <a:buChar char="•"/>
              <a:defRPr sz="2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406400" lvl="3" marL="1828800" marR="0" algn="l">
              <a:spcBef>
                <a:spcPts val="70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Open Sans"/>
              <a:buChar char="•"/>
              <a:defRPr sz="2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406400" lvl="4" marL="2286000" marR="0" algn="l"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Open Sans"/>
              <a:buChar char="•"/>
              <a:defRPr sz="2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406400" lvl="5" marL="2743200" marR="0" algn="l"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Open Sans"/>
              <a:buChar char="•"/>
              <a:defRPr sz="2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406400" lvl="6" marL="3200400" marR="0" algn="l"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Open Sans"/>
              <a:buChar char="•"/>
              <a:defRPr sz="2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406400" lvl="7" marL="3657600" marR="0" algn="l"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Open Sans"/>
              <a:buChar char="•"/>
              <a:defRPr sz="2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406400" lvl="8" marL="4114800" marR="0" algn="l"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Open Sans"/>
              <a:buChar char="•"/>
              <a:defRPr sz="2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1035050" y="277813"/>
            <a:ext cx="72945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0" marR="0" algn="l">
              <a:spcBef>
                <a:spcPts val="0"/>
              </a:spcBef>
              <a:spcAft>
                <a:spcPts val="0"/>
              </a:spcAft>
              <a:buClr>
                <a:srgbClr val="1B7293"/>
              </a:buClr>
              <a:buSzPts val="3600"/>
              <a:buFont typeface="Maven Pro Medium"/>
              <a:buChar char="●"/>
              <a:defRPr sz="3600">
                <a:solidFill>
                  <a:srgbClr val="1B7293"/>
                </a:solidFill>
                <a:latin typeface="Maven Pro Medium"/>
                <a:ea typeface="Maven Pro Medium"/>
                <a:cs typeface="Maven Pro Medium"/>
                <a:sym typeface="Maven Pro Medium"/>
              </a:defRPr>
            </a:lvl1pPr>
            <a:lvl2pPr indent="-88900" lvl="1" marL="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4572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9144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18288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-343600" y="127000"/>
            <a:ext cx="566708" cy="546100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56784" y="527761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hyperlink" Target="https://itcc.li" TargetMode="External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/>
          <p:cNvSpPr txBox="1"/>
          <p:nvPr/>
        </p:nvSpPr>
        <p:spPr>
          <a:xfrm>
            <a:off x="772950" y="1484075"/>
            <a:ext cx="4181700" cy="23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" sz="42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KI-Agenten </a:t>
            </a:r>
            <a:r>
              <a:rPr b="1" lang="de" sz="4200">
                <a:solidFill>
                  <a:srgbClr val="18EAFB"/>
                </a:solidFill>
                <a:latin typeface="Google Sans"/>
                <a:ea typeface="Google Sans"/>
                <a:cs typeface="Google Sans"/>
                <a:sym typeface="Google Sans"/>
              </a:rPr>
              <a:t>für </a:t>
            </a:r>
            <a:endParaRPr b="1" sz="4200">
              <a:solidFill>
                <a:srgbClr val="18EAFB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" sz="4200">
                <a:solidFill>
                  <a:srgbClr val="18EAFB"/>
                </a:solidFill>
                <a:latin typeface="Google Sans"/>
                <a:ea typeface="Google Sans"/>
                <a:cs typeface="Google Sans"/>
                <a:sym typeface="Google Sans"/>
              </a:rPr>
              <a:t>Business und </a:t>
            </a:r>
            <a:endParaRPr b="1" sz="4200">
              <a:solidFill>
                <a:srgbClr val="18EAFB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4200">
                <a:solidFill>
                  <a:srgbClr val="18EAFB"/>
                </a:solidFill>
                <a:latin typeface="Google Sans"/>
                <a:ea typeface="Google Sans"/>
                <a:cs typeface="Google Sans"/>
                <a:sym typeface="Google Sans"/>
              </a:rPr>
              <a:t>Entwicklung</a:t>
            </a:r>
            <a:endParaRPr sz="4200">
              <a:solidFill>
                <a:srgbClr val="18EAFB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itcc.li Logo 1024 w (1).png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6625" y="4559899"/>
            <a:ext cx="1239480" cy="3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780680" y="3893215"/>
            <a:ext cx="445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17. September 2026</a:t>
            </a:r>
            <a:endParaRPr sz="18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6" title="Flyer-Agentic2_2026_09_17.png"/>
          <p:cNvPicPr preferRelativeResize="0"/>
          <p:nvPr/>
        </p:nvPicPr>
        <p:blipFill rotWithShape="1">
          <a:blip r:embed="rId3">
            <a:alphaModFix/>
          </a:blip>
          <a:srcRect b="14097" l="0" r="0" t="43329"/>
          <a:stretch/>
        </p:blipFill>
        <p:spPr>
          <a:xfrm>
            <a:off x="162788" y="162325"/>
            <a:ext cx="8818425" cy="5310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7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Agent-Architektur-Muster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Ralph-Loop: Mechanik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Endlosschleife: while :; do cat PROMPT.md | claude-code; done</a:t>
            </a:r>
          </a:p>
          <a:p>
            <a:pPr/>
            <a:r>
              <a:t>Jede Iteration startet mit frischem Kontext</a:t>
            </a:r>
          </a:p>
          <a:p>
            <a:pPr/>
            <a:r>
              <a:t>Zustand liegt aussen: Plan-/Spec-Dateien + git-History</a:t>
            </a:r>
          </a:p>
          <a:p>
            <a:pPr/>
            <a:r>
              <a:t>Eine Aufgabe pro Runde: umsetzen, verifizieren, committen — Exit</a:t>
            </a:r>
          </a:p>
          <a:p>
            <a:pPr/>
            <a:r>
              <a:t>Monolith-Muster: ein Prozess, ein Repo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Ralph-Loop: Verifikations-Gates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Ohne objektives Erfolgssignal: Endlosschleife oder falsch-grün</a:t>
            </a:r>
          </a:p>
          <a:p>
            <a:pPr/>
            <a:r>
              <a:t>Pflicht-Gates: Tests, Typcheck/statische Analyse, Compile</a:t>
            </a:r>
          </a:p>
          <a:p>
            <a:pPr/>
            <a:r>
              <a:t>Qualität der Specs bestimmt das Ergebnis</a:t>
            </a:r>
          </a:p>
          <a:p>
            <a:pPr/>
            <a:r>
              <a:t>Test-Docstrings als Breadcrumbs für die nächste Iteration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Ralph-Loop: Einsatzprofile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Grosser, homogener, gut spezifizierter Backlog</a:t>
            </a:r>
          </a:p>
          <a:p>
            <a:pPr/>
            <a:r>
              <a:t>Beispiele: Migration, Test-Backfill, mechanischer Refactor</a:t>
            </a:r>
          </a:p>
          <a:p>
            <a:pPr/>
            <a:r>
              <a:t>Mechanisch verifizierbare Arbeit — Korrektheit ist objektiv</a:t>
            </a:r>
          </a:p>
          <a:p>
            <a:pPr/>
            <a:r>
              <a:t>Betriebsmodus: kleine Iterationen, z. B. nächtlicher Cron-Lauf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Ralph-Loop: Failure-Modes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Agent hält Implementiertes für fehlend — baut doppelt</a:t>
            </a:r>
          </a:p>
          <a:p>
            <a:pPr/>
            <a:r>
              <a:t>Platzhalter-Code statt echter Implementierung</a:t>
            </a:r>
          </a:p>
          <a:p>
            <a:pPr/>
            <a:r>
              <a:t>Kontext-Verschwendung; Compaction erzeugt Drift</a:t>
            </a:r>
          </a:p>
          <a:p>
            <a:pPr/>
            <a:r>
              <a:t>Kaputtgelaufener Codebase: Reset oder Rettung</a:t>
            </a:r>
          </a:p>
          <a:p>
            <a:pPr/>
            <a:r>
              <a:t>Merge-Konflikte bei grossen Refactor-Läufen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Ralph-Loop: Kostenprofil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Günstig, weil kein Kontext mitgeschleppt wird</a:t>
            </a:r>
          </a:p>
          <a:p>
            <a:pPr/>
            <a:r>
              <a:t>50k-Auftrag für 297 USD (Huntley)</a:t>
            </a:r>
          </a:p>
          <a:p>
            <a:pPr/>
            <a:r>
              <a:t>Getestete App über 16 Phasen: ~70 EUR API-Kosten (codecentric)</a:t>
            </a:r>
          </a:p>
          <a:p>
            <a:pPr/>
            <a:r>
              <a:t>Preis dafür: Aufsicht — 'babysit this thing'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Orchestrator + Subagenten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Lead-Agent plant und spawnt parallele Subagenten</a:t>
            </a:r>
          </a:p>
          <a:p>
            <a:pPr/>
            <a:r>
              <a:t>Jeder Subagent: eigenes Kontextfenster, eigene Exploration</a:t>
            </a:r>
          </a:p>
          <a:p>
            <a:pPr/>
            <a:r>
              <a:t>Rückgabe nur verdichtet: 1.000–2.000 Token</a:t>
            </a:r>
          </a:p>
          <a:p>
            <a:pPr/>
            <a:r>
              <a:t>Lead synthetisiert — Subagenten integrieren nicht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Orchestrator: Stärken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+90,2 % gegenüber Single-Agent (Anthropic Research-Eval)</a:t>
            </a:r>
          </a:p>
          <a:p>
            <a:pPr/>
            <a:r>
              <a:t>Token-Nutzung erklärt 80 % der Leistungsvarianz</a:t>
            </a:r>
          </a:p>
          <a:p>
            <a:pPr/>
            <a:r>
              <a:t>Breitensuche: unabhängige Teilrichtungen parallel</a:t>
            </a:r>
          </a:p>
          <a:p>
            <a:pPr/>
            <a:r>
              <a:t>Parallelität senkt die Laufzeit um bis zu 90 %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Orchestrator: Kosten &amp; Grenzen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~15× Token eines Chats (einzelner Agent: ~4×)</a:t>
            </a:r>
          </a:p>
          <a:p>
            <a:pPr/>
            <a:r>
              <a:t>Schlechter Fit: geteilter Kontext, viele Abhängigkeiten</a:t>
            </a:r>
          </a:p>
          <a:p>
            <a:pPr/>
            <a:r>
              <a:t>Coding laut Anthropic schlechter Fit — wenig echt parallelisierbar</a:t>
            </a:r>
          </a:p>
          <a:p>
            <a:pPr/>
            <a:r>
              <a:t>Vage Aufträge → doppelte Arbeit mehrerer Subagenten</a:t>
            </a:r>
          </a:p>
          <a:p>
            <a:pPr/>
            <a:r>
              <a:t>Effort-Scaling: einfach = 1 Agent, komplex = 10+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Orchestrator: Anti-Patterns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Context-Bloat: jede Rückgabe landet im Lead (10 × 2.000 = 20k+)</a:t>
            </a:r>
          </a:p>
          <a:p>
            <a:pPr/>
            <a:r>
              <a:t>Subagenten integrieren selbst → Duplikate und Konflikte</a:t>
            </a:r>
          </a:p>
          <a:p>
            <a:pPr/>
            <a:r>
              <a:t>Zu breiter Fan-out, zu schwache Verdichtung</a:t>
            </a:r>
          </a:p>
          <a:p>
            <a:pPr/>
            <a:r>
              <a:t>Merksatz: 'Delegate the tasks, not the judgment'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Gegenposition: Single-Agent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Cognition: 'Don't build multi-agents'</a:t>
            </a:r>
          </a:p>
          <a:p>
            <a:pPr/>
            <a:r>
              <a:t>Handlungen tragen implizite Entscheidungen</a:t>
            </a:r>
          </a:p>
          <a:p>
            <a:pPr/>
            <a:r>
              <a:t>Parallele Agenten entscheiden kollidierend — nicht mehr fusionierbar</a:t>
            </a:r>
          </a:p>
          <a:p>
            <a:pPr/>
            <a:r>
              <a:t>Beispiel Flappy Bird: Mario-Hintergrund + fremder Vogel</a:t>
            </a:r>
          </a:p>
          <a:p>
            <a:pPr/>
            <a:r>
              <a:t>Empfehlung: single-threaded Agent, volle Traces</a:t>
            </a:r>
          </a:p>
          <a:p>
            <a:pPr/>
            <a:r>
              <a:t>Bei Überlänge: Compression-Modell statt Parallelität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Hierarchie vs. Swarm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Hierarchisch: Lead delegiert, Subagenten berichten zurück</a:t>
            </a:r>
          </a:p>
          <a:p>
            <a:pPr/>
            <a:r>
              <a:t>Peer-to-Peer/Swarm: gleichrangige Agenten, Handoff als einziges Primitiv</a:t>
            </a:r>
          </a:p>
          <a:p>
            <a:pPr/>
            <a:r>
              <a:t>Handoff = Konversation + Kontrolle wandern zum passenderen Agenten</a:t>
            </a:r>
          </a:p>
          <a:p>
            <a:pPr/>
            <a:r>
              <a:t>Immer nur EIN Agent aktiv — sequenzielle Kontrollübergabe</a:t>
            </a:r>
          </a:p>
          <a:p>
            <a:pPr/>
            <a:r>
              <a:t>Stil: OpenAI Swarm → Agents SDK (März 2025)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Wann hierarchisch, wann Swarm?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Hierarchisch: Kontrolle, Vorhersagbarkeit, ein Verantwortlicher für die Synthese</a:t>
            </a:r>
          </a:p>
          <a:p>
            <a:pPr/>
            <a:r>
              <a:t>Ab ~8 Agenten: explizite Fehlergrenzen nötig → hierarchisch</a:t>
            </a:r>
          </a:p>
          <a:p>
            <a:pPr/>
            <a:r>
              <a:t>Swarm: Routing zwischen Spezialisten (Triage → Fachagent), Exploration</a:t>
            </a:r>
          </a:p>
          <a:p>
            <a:pPr/>
            <a:r>
              <a:t>Handoff-Ketten kosten: 7+ API-Calls, 14k+ Token bei Multi-Domain-Tasks</a:t>
            </a:r>
          </a:p>
          <a:p>
            <a:pPr/>
            <a:r>
              <a:t>Faustregel: zentral starten, dezentralisieren erst bei echtem Engpass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Weitere Muster: Betriebsformen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Agent Teams</a:t>
            </a:r>
          </a:p>
          <a:p>
            <a:pPr lvl="1"/>
            <a:r>
              <a:t>koordinierte Peers, Rollen-Split Coordinator/Specialist/Verifier — ~7× Session-Kosten</a:t>
            </a:r>
          </a:p>
          <a:p>
            <a:pPr/>
            <a:r>
              <a:t>Parallele Worktree-Agenten</a:t>
            </a:r>
          </a:p>
          <a:p>
            <a:pPr lvl="1"/>
            <a:r>
              <a:t>je Agent eigener Branch + eigenes Verzeichnis; Praxis: 4–8 pro Entwickler</a:t>
            </a:r>
          </a:p>
          <a:p>
            <a:pPr/>
            <a:r>
              <a:t>Cron-/Scheduled-/Managed-Agents</a:t>
            </a:r>
          </a:p>
          <a:p>
            <a:pPr lvl="1"/>
            <a:r>
              <a:t>nächtliche Wartung als PR — GitHub Agentic Workflows, Claude Managed Agents (Beta Juni 2026)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Weitere Muster: Bauformen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Deterministische Workflow-Pipelines</a:t>
            </a:r>
          </a:p>
          <a:p>
            <a:pPr lvl="1"/>
            <a:r>
              <a:t>Prompt-Chaining, Routing, Parallelization — feste Code-Pfade statt Autonomie</a:t>
            </a:r>
          </a:p>
          <a:p>
            <a:pPr/>
            <a:r>
              <a:t>Evaluator-Optimizer / Judge-Panels</a:t>
            </a:r>
          </a:p>
          <a:p>
            <a:pPr lvl="1"/>
            <a:r>
              <a:t>Generator + bewertender Agent im Loop</a:t>
            </a:r>
          </a:p>
          <a:p>
            <a:pPr/>
            <a:r>
              <a:t>Plan-file-getriebene Ketten frischer Sessions</a:t>
            </a:r>
          </a:p>
          <a:p>
            <a:pPr lvl="1"/>
            <a:r>
              <a:t>destillierter Brief statt Compaction, Zustand in Dateien</a:t>
            </a:r>
          </a:p>
          <a:p>
            <a:pPr/>
            <a:r>
              <a:t>12-Factor Agents</a:t>
            </a:r>
          </a:p>
          <a:p>
            <a:pPr lvl="1"/>
            <a:r>
              <a:t>Agent als normale Software: eigener Control-Flow, Stateless Reducer, Mensch als Tool-Call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Kontextgrösse vs. Qualität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Degradation bei JEDEM getesteten Modell, weit vor dem Fensterrand</a:t>
            </a:r>
          </a:p>
          <a:p>
            <a:pPr/>
            <a:r>
              <a:t>Kipp-Zone ~32k Token: 11 von 13 Modellen unter 50 % ihrer Baseline</a:t>
            </a:r>
          </a:p>
          <a:p>
            <a:pPr/>
            <a:r>
              <a:t>Lost in the Middle: Mitte-Position −20 bis −30 Punkte</a:t>
            </a:r>
          </a:p>
          <a:p>
            <a:pPr/>
            <a:r>
              <a:t>Instruction-Failure: 5 % → 18 % → 50 % (8k → 16k → 32k)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Kontext: praktische Zahlen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Effektiv nutzbar: ~60–70 % des nominalen Fensters</a:t>
            </a:r>
          </a:p>
          <a:p>
            <a:pPr/>
            <a:r>
              <a:t>Übergabe/Compaction bei 50–70 % Füllung — nicht erst bei ~83,5 % (Auto-Compact)</a:t>
            </a:r>
          </a:p>
          <a:p>
            <a:pPr/>
            <a:r>
              <a:t>Opus 4.6: 93 % bei 128k → 76 % bei 1M (MRCR v2, 8-needle)</a:t>
            </a:r>
          </a:p>
          <a:p>
            <a:pPr/>
            <a:r>
              <a:t>Degradierte Sessions wirken gesund — bis zum Bruch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Kontext-Management: Strategien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Compaction</a:t>
            </a:r>
          </a:p>
          <a:p>
            <a:pPr lvl="1"/>
            <a:r>
              <a:t>Verlauf verdichten — für langes Hin-und-Her mit Gesprächskontinuität</a:t>
            </a:r>
          </a:p>
          <a:p>
            <a:pPr/>
            <a:r>
              <a:t>Strukturierte Notizen / Handoff-Briefe</a:t>
            </a:r>
          </a:p>
          <a:p>
            <a:pPr lvl="1"/>
            <a:r>
              <a:t>externes Gedächtnis — für iterative Entwicklung mit Meilensteinen</a:t>
            </a:r>
          </a:p>
          <a:p>
            <a:pPr/>
            <a:r>
              <a:t>Subagent-Isolation</a:t>
            </a:r>
          </a:p>
          <a:p>
            <a:pPr lvl="1"/>
            <a:r>
              <a:t>Rohmaterial im eigenen Fenster — für parallele Exploration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Kontext-Management: Grenzen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/clear und /compact sind user-only — kein Tool löst sie aus</a:t>
            </a:r>
          </a:p>
          <a:p>
            <a:pPr/>
            <a:r>
              <a:t>Zusammenfassung aus degradiertem Kontext erbt die Lücken</a:t>
            </a:r>
          </a:p>
          <a:p>
            <a:pPr/>
            <a:r>
              <a:t>Automatisierbar: SessionStart-Hook injiziert den Handoff-Brief nach /clear</a:t>
            </a:r>
          </a:p>
          <a:p>
            <a:pPr/>
            <a:r>
              <a:t>Vollautonomie: Supervisor-Skript über das Agent SDK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Entscheidungs-Leiter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1. Fest verdrahteter Workflow</a:t>
            </a:r>
          </a:p>
          <a:p>
            <a:pPr lvl="1"/>
            <a:r>
              <a:t>Schritt vorhersagbar → deterministischer Code, kein Modell-Ermessen</a:t>
            </a:r>
          </a:p>
          <a:p>
            <a:pPr/>
            <a:r>
              <a:t>2. Single-Agent mit Plan-Dateien</a:t>
            </a:r>
          </a:p>
          <a:p>
            <a:pPr lvl="1"/>
            <a:r>
              <a:t>sequenzielle Arbeit, geteilter Kontext, klare Meilensteine</a:t>
            </a:r>
          </a:p>
          <a:p>
            <a:pPr/>
            <a:r>
              <a:t>3. Orchestrator + Subagenten</a:t>
            </a:r>
          </a:p>
          <a:p>
            <a:pPr lvl="1"/>
            <a:r>
              <a:t>Breitensuche mit unabhängigen Teilrichtungen</a:t>
            </a:r>
          </a:p>
          <a:p>
            <a:pPr/>
            <a:r>
              <a:t>4. Loop / Cron</a:t>
            </a:r>
          </a:p>
          <a:p>
            <a:pPr lvl="1"/>
            <a:r>
              <a:t>homogener, objektiv verifizierbarer Backlog — unbeaufsichtigt</a:t>
            </a:r>
          </a:p>
          <a:p>
            <a:pPr/>
            <a:r>
              <a:t>Kriterien: Verifizierbarkeit · User-Gates · Backlog-Homogenität · Kosten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Quellen (1/3)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100"/>
              <a:t>Ralph Wiggum as a 'software engineer' (Geoffrey Huntley) — https://ghuntley.com/ralph/</a:t>
            </a:r>
          </a:p>
          <a:p>
            <a:pPr/>
            <a:r>
              <a:rPr sz="1100"/>
              <a:t>everything is a ralph loop (Geoffrey Huntley) — https://ghuntley.com/loop/</a:t>
            </a:r>
          </a:p>
          <a:p>
            <a:pPr/>
            <a:r>
              <a:rPr sz="1100"/>
              <a:t>Don't Build Multi-Agents (Walden Yan, Cognition) — https://cognition.com/blog/dont-build-multi-agents</a:t>
            </a:r>
          </a:p>
          <a:p>
            <a:pPr/>
            <a:r>
              <a:rPr sz="1100"/>
              <a:t>How we built our multi-agent research system (Anthropic) — https://www.anthropic.com/engineering/multi-agent-research-system</a:t>
            </a:r>
          </a:p>
          <a:p>
            <a:pPr/>
            <a:r>
              <a:rPr sz="1100"/>
              <a:t>Building effective agents (Anthropic) — https://www.anthropic.com/engineering/building-effective-agents</a:t>
            </a:r>
          </a:p>
          <a:p>
            <a:pPr/>
            <a:r>
              <a:rPr sz="1100"/>
              <a:t>Effective context engineering for AI agents (Anthropic) — https://www.anthropic.com/engineering/effective-context-engineering-for-ai-agents</a:t>
            </a:r>
          </a:p>
          <a:p>
            <a:pPr/>
            <a:r>
              <a:rPr sz="1100"/>
              <a:t>Subagents (Claude Code Docs) — https://code.claude.com/docs/en/sub-agents</a:t>
            </a:r>
          </a:p>
          <a:p>
            <a:pPr/>
            <a:r>
              <a:rPr sz="1100"/>
              <a:t>A Brief History of Ralph (HumanLayer) — https://www.humanlayer.dev/blog/brief-history-of-ralph</a:t>
            </a:r>
          </a:p>
          <a:p>
            <a:pPr/>
            <a:r>
              <a:rPr sz="1100"/>
              <a:t>12-Factor Agents (HumanLayer) — https://github.com/humanlayer/12-factor-agents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Quellen (2/3)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100"/>
              <a:t>The Ralph Wiggum Loop (codecentric) — https://www.codecentric.de/en/knowledge-hub/blog/the-ralph-wiggum-loop-autonomous-code-generation-with-a-fresh-context</a:t>
            </a:r>
          </a:p>
          <a:p>
            <a:pPr/>
            <a:r>
              <a:rPr sz="1100"/>
              <a:t>What Is the Ralph Technique? (ralphloop.sh) — https://ralphloop.sh/blog/what-is-the-ralph-technique/</a:t>
            </a:r>
          </a:p>
          <a:p>
            <a:pPr/>
            <a:r>
              <a:rPr sz="1100"/>
              <a:t>Unpacking the 'unpossible' logic of Ralph-style AI coding (Tessl) — https://tessl.io/blog/unpacking-the-unpossible-logic-of-ralph-wiggumstyle-ai-coding</a:t>
            </a:r>
          </a:p>
          <a:p>
            <a:pPr/>
            <a:r>
              <a:rPr sz="1100"/>
              <a:t>The Code Agent Orchestra (Addy Osmani) — https://addyosmani.com/blog/code-agent-orchestra/</a:t>
            </a:r>
          </a:p>
          <a:p>
            <a:pPr/>
            <a:r>
              <a:rPr sz="1100"/>
              <a:t>Run parallel sessions with worktrees (Claude Code Docs) — https://code.claude.com/docs/en/worktrees</a:t>
            </a:r>
          </a:p>
          <a:p>
            <a:pPr/>
            <a:r>
              <a:rPr sz="1100"/>
              <a:t>Nightly Tech-Debt Burners (Kinde) — https://www.kinde.com/learn/ai-for-software-engineering/ai-devops/nightly-tech-debt-burners-scheduling-agents-to-clean-your-repo/</a:t>
            </a:r>
          </a:p>
          <a:p>
            <a:pPr/>
            <a:r>
              <a:rPr sz="1100"/>
              <a:t>Context Rot (Chroma Research) — https://www.trychroma.com/research/context-rot</a:t>
            </a:r>
          </a:p>
          <a:p>
            <a:pPr/>
            <a:r>
              <a:rPr sz="1100"/>
              <a:t>Lost in the Middle (Liu et al., 2023) — https://cs.stanford.edu/~nfliu/papers/lost-in-the-middle.arxiv2023.pdf</a:t>
            </a:r>
          </a:p>
          <a:p>
            <a:pPr/>
            <a:r>
              <a:rPr sz="1100"/>
              <a:t>NoLiMa: Long-Context Evaluation Beyond Literal Matching (Adobe, ICML 2025) — https://arxiv.org/abs/2502.05167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Quellen (3/3)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100"/>
              <a:t>RULER: What's the Real Context Size of Your Long-Context LMs? — https://arxiv.org/html/2404.06654</a:t>
            </a:r>
          </a:p>
          <a:p>
            <a:pPr/>
            <a:r>
              <a:rPr sz="1100"/>
              <a:t>How Long Contexts Fail (Drew Breunig) — https://www.dbreunig.com/2025/06/22/how-contexts-fail-and-how-to-fix-them.html</a:t>
            </a:r>
          </a:p>
          <a:p>
            <a:pPr/>
            <a:r>
              <a:rPr sz="1100"/>
              <a:t>Long Context RAG Performance of LLMs (Databricks) — https://www.databricks.com/blog/long-context-rag-performance-llms</a:t>
            </a:r>
          </a:p>
          <a:p>
            <a:pPr/>
            <a:r>
              <a:rPr sz="1100"/>
              <a:t>Long Context Benchmarks: All Three Hit 1M (MRCR-v2-Auswertung) — https://yage.ai/share/long-context-benchmark-en-20260315.html</a:t>
            </a:r>
          </a:p>
          <a:p>
            <a:pPr/>
            <a:r>
              <a:rPr sz="1100"/>
              <a:t>Manage costs effectively (Claude Code Docs) — https://code.claude.com/docs/en/costs</a:t>
            </a:r>
          </a:p>
          <a:p>
            <a:pPr/>
            <a:r>
              <a:rPr sz="1100"/>
              <a:t>Auto-Compact-Schwelle, Community-Analyse (turboai.dev) — https://www.turboai.dev/blog/claude-autocompact-pct-override-guide</a:t>
            </a:r>
          </a:p>
          <a:p>
            <a:pPr/>
            <a:r>
              <a:rPr sz="1100"/>
              <a:t>Context Rot: Why Claude Code Sessions Decay (Towards Data Science) — https://towardsdatascience.com/governed-context-managing-context-rot-in-claude-code/</a:t>
            </a:r>
          </a:p>
          <a:p>
            <a:pPr/>
            <a:r>
              <a:rPr sz="1100"/>
              <a:t>Swarm vs. Supervisor (Augment Code) — https://www.augmentcode.com/guides/swarm-vs-supervisor</a:t>
            </a:r>
          </a:p>
          <a:p>
            <a:pPr/>
            <a:r>
              <a:rPr sz="1100"/>
              <a:t>Agent Orchestration Patterns: Swarm vs Mesh vs Hierarchical (GuruSup) — https://gurusup.com/blog/agent-orchestration-patterns</a:t>
            </a:r>
          </a:p>
          <a:p>
            <a:pPr/>
            <a:r>
              <a:rPr sz="1100"/>
              <a:t>State of CLI Coding Agents, Mid-2026 (arcbjorn) — https://blog.arcbjorn.com/state-of-cli-coding-agents-2026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Harness Engineering — Themenlandkarte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ist ein Harness?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Alles um das Modell herum: Werkzeuge, Regeln, Feedback-Schleifen, Gedächtnis</a:t>
            </a:r>
          </a:p>
          <a:p>
            <a:pPr/>
            <a:r>
              <a:t>These 2026: Nicht der Agent ist der Engpass — der Harness ist es</a:t>
            </a:r>
          </a:p>
          <a:p>
            <a:pPr/>
            <a:r>
              <a:t>Reifegrad-Folge: Prompt Engineering → Context Engineering → Harness Engineering</a:t>
            </a:r>
          </a:p>
          <a:p>
            <a:pPr/>
            <a:r>
              <a:t>Fünf Schichten: Tools, Verifikation, Kontext/Memory, Guardrails, Observability</a:t>
            </a:r>
          </a:p>
          <a:p>
            <a:pPr/>
            <a:r>
              <a:t>Kernsatz: Jeder Agentenfehler wird in eine dauerhafte technische Vorkehrung übersetzt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 Landkarte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Steuerung &amp; Regeln</a:t>
            </a:r>
          </a:p>
          <a:p>
            <a:pPr/>
            <a:r>
              <a:t>Verifikation &amp; Qualität</a:t>
            </a:r>
          </a:p>
          <a:p>
            <a:pPr/>
            <a:r>
              <a:t>Ökonomie</a:t>
            </a:r>
          </a:p>
          <a:p>
            <a:pPr/>
            <a:r>
              <a:t>Gedächtnis &amp; Wissen</a:t>
            </a:r>
          </a:p>
          <a:p>
            <a:pPr/>
            <a:r>
              <a:t>Betrieb &amp; Beobachtbarkeit</a:t>
            </a:r>
          </a:p>
          <a:p>
            <a:pPr/>
            <a:r>
              <a:t>Werkzeuge &amp; Protokolle</a:t>
            </a:r>
          </a:p>
          <a:p>
            <a:pPr/>
            <a:r>
              <a:t>Sicherheit</a:t>
            </a:r>
          </a:p>
          <a:p>
            <a:pPr/>
            <a:r>
              <a:t>Mensch im Loop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Steuerung &amp; Regeln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Hooks &amp; Guardrails</a:t>
            </a:r>
          </a:p>
          <a:p>
            <a:pPr/>
            <a:r>
              <a:t>Permission-Modelle</a:t>
            </a:r>
          </a:p>
          <a:p>
            <a:pPr/>
            <a:r>
              <a:t>Sandboxing &amp; Isolation</a:t>
            </a:r>
          </a:p>
          <a:p>
            <a:pPr/>
            <a:r>
              <a:t>AGENTS.md &amp; CLAUDE.md</a:t>
            </a:r>
          </a:p>
          <a:p>
            <a:pPr/>
            <a:r>
              <a:t>Skills &amp; Slash-Commands</a:t>
            </a:r>
          </a:p>
          <a:p>
            <a:pPr/>
            <a:r>
              <a:t>Spec-driven Development</a:t>
            </a:r>
          </a:p>
          <a:p>
            <a:pPr/>
            <a:r>
              <a:t>Rückgabe-Schemata &amp; Structured Outputs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Hooks &amp; Guardrails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Eigener Code an Lebenszyklus-Punkten: vor/nach jedem Tool-Aufruf, am Turn-Ende</a:t>
            </a:r>
          </a:p>
          <a:p>
            <a:pPr/>
            <a:r>
              <a:t>Deterministisch: der Hook feuert immer — eine Prompt-Regel wird auch mal vergessen</a:t>
            </a:r>
          </a:p>
          <a:p>
            <a:pPr/>
            <a:r>
              <a:t>Typische Gates: Test-Pflicht, Lint/Format, Schreib-Verbote, Output-Grössen-Wache</a:t>
            </a:r>
          </a:p>
          <a:p>
            <a:pPr/>
            <a:r>
              <a:t>Werkzeuge: Claude Code Hooks · Cursor Hooks · pre-commit/husky als Vorbild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Permission-Modelle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Erlauben / Fragen / Verbieten je Werkzeug, Pfad und Kommando-Muster</a:t>
            </a:r>
          </a:p>
          <a:p>
            <a:pPr/>
            <a:r>
              <a:t>Abgestufte Modi: read-only → auto-edit → full-auto</a:t>
            </a:r>
          </a:p>
          <a:p>
            <a:pPr/>
            <a:r>
              <a:t>Warum: kleinste nötige Rechte statt YOLO-Modus; jede Freigabe bleibt auditierbar</a:t>
            </a:r>
          </a:p>
          <a:p>
            <a:pPr/>
            <a:r>
              <a:t>Werkzeuge: Claude Code Permissions · Codex Approval-Modes · Gemini CLI Policies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Sandboxing &amp; Isolation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Agent läuft eingesperrt: Dateisystem-, Prozess- und Netzwerk-Grenzen</a:t>
            </a:r>
          </a:p>
          <a:p>
            <a:pPr/>
            <a:r>
              <a:t>Varianten: OS-Sandbox (Seatbelt/bubblewrap) · Container · microVMs · Cloud-Boxen</a:t>
            </a:r>
          </a:p>
          <a:p>
            <a:pPr/>
            <a:r>
              <a:t>Egress-Filter: nur erlaubte Hosts — begrenzt Exfiltration und Supply-Chain-Schaden</a:t>
            </a:r>
          </a:p>
          <a:p>
            <a:pPr/>
            <a:r>
              <a:t>Werkzeuge: Devcontainer/Docker · E2B · Daytona · Modal · Anthropic sandbox-runtime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AGENTS.md &amp; CLAUDE.md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Eingecheckte Standing Instructions: Konventionen, Befehle, Grenzen des Projekts</a:t>
            </a:r>
          </a:p>
          <a:p>
            <a:pPr/>
            <a:r>
              <a:t>Ein Standard für viele Tools — AGENTS.md lesen Codex, Cursor, Jules, Amp &amp; Co.</a:t>
            </a:r>
          </a:p>
          <a:p>
            <a:pPr/>
            <a:r>
              <a:t>Erfahrungswert 2026: ab ~150–200 Regeln sinkt die Befolgung — kurz halten</a:t>
            </a:r>
          </a:p>
          <a:p>
            <a:pPr/>
            <a:r>
              <a:t>Werkzeuge: agents.md-Spec · CLAUDE.md mit @-Imports · .cursor/rules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&amp; Slash-Commands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Skill: Ordner mit Anleitung, Skripten, Beispielen für eine Arbeitsart (SKILL.md)</a:t>
            </a:r>
          </a:p>
          <a:p>
            <a:pPr/>
            <a:r>
              <a:t>Progressive Disclosure: der Skill lädt erst bei Bedarf in den Kontext</a:t>
            </a:r>
          </a:p>
          <a:p>
            <a:pPr/>
            <a:r>
              <a:t>Slash-Commands: parametrisierte Playbooks statt jedes Mal neu prompten</a:t>
            </a:r>
          </a:p>
          <a:p>
            <a:pPr/>
            <a:r>
              <a:t>Werkzeuge: Agent Skills (offener Standard seit Ende 2025) · Custom Slash-Commands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Spec-driven Development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Spezifikation als Quelle der Wahrheit — Code ist abgeleitetes Artefakt</a:t>
            </a:r>
          </a:p>
          <a:p>
            <a:pPr/>
            <a:r>
              <a:t>Ablauf: Spec → Plan → Tasks → Implementierung, jede Stufe einzeln prüfbar</a:t>
            </a:r>
          </a:p>
          <a:p>
            <a:pPr/>
            <a:r>
              <a:t>Warum: der Agent optimiert gegen die Spec statt gegen vage Chat-Historie</a:t>
            </a:r>
          </a:p>
          <a:p>
            <a:pPr/>
            <a:r>
              <a:t>Werkzeuge: GitHub Spec Kit · AWS Kiro · Tessl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Rückgabe-Schemata &amp; Structured Outputs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Verbindliche Antwortform statt Prosa: JSON-Schema, Pflichtfelder, Belege</a:t>
            </a:r>
          </a:p>
          <a:p>
            <a:pPr/>
            <a:r>
              <a:t>Subagenten-Berichte z. B.: Erledigt / Offen / Findings / Nächster Schritt</a:t>
            </a:r>
          </a:p>
          <a:p>
            <a:pPr/>
            <a:r>
              <a:t>Warum: nur strukturierte Rückgaben sind maschinell prüf- und weiterverwendbar</a:t>
            </a:r>
          </a:p>
          <a:p>
            <a:pPr/>
            <a:r>
              <a:t>Werkzeuge: Structured Outputs der Provider · Instructor · BAML · Outlines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Verifikation &amp; Qualität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TDD-Gates: Rot vor Grün</a:t>
            </a:r>
          </a:p>
          <a:p>
            <a:pPr/>
            <a:r>
              <a:t>Statische Leitplanken</a:t>
            </a:r>
          </a:p>
          <a:p>
            <a:pPr/>
            <a:r>
              <a:t>Evals &amp; Benchmarks</a:t>
            </a:r>
          </a:p>
          <a:p>
            <a:pPr/>
            <a:r>
              <a:t>Eigene Evals &amp; Regressionen</a:t>
            </a:r>
          </a:p>
          <a:p>
            <a:pPr/>
            <a:r>
              <a:t>LLM-as-Judge</a:t>
            </a:r>
          </a:p>
          <a:p>
            <a:pPr/>
            <a:r>
              <a:t>Review-Agenten &amp; Merge-Queues</a:t>
            </a:r>
          </a:p>
          <a:p>
            <a:pPr/>
            <a:r>
              <a:t>Agentische UI-/E2E-Verifikation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TDD-Gates: Rot vor Grün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Erst der Test, der rot läuft — dann der Fix bis grün; der Rot-Beleg ist Artefakt</a:t>
            </a:r>
          </a:p>
          <a:p>
            <a:pPr/>
            <a:r>
              <a:t>Warum: falsch-grün ist der teuerste Agentenfehler — ohne Rot trifft der Test nichts</a:t>
            </a:r>
          </a:p>
          <a:p>
            <a:pPr/>
            <a:r>
              <a:t>Hooks erzwingen Test-Präsenz im Change-Set; die Reihenfolge bleibt Disziplin</a:t>
            </a:r>
          </a:p>
          <a:p>
            <a:pPr/>
            <a:r>
              <a:t>Werkzeuge: TDD Guard (Hook) · Mutation-Testing als Stichprobe (PIT, Stryker)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Statische Leitplanken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Typen, Linter, Formatter: deterministisches Sofort-Feedback im Agenten-Loop</a:t>
            </a:r>
          </a:p>
          <a:p>
            <a:pPr/>
            <a:r>
              <a:t>Je strenger der Compiler, desto weniger Halluzination überlebt bis zum Commit</a:t>
            </a:r>
          </a:p>
          <a:p>
            <a:pPr/>
            <a:r>
              <a:t>Security- und Qualitäts-Scanner als Gate vor dem Merge</a:t>
            </a:r>
          </a:p>
          <a:p>
            <a:pPr/>
            <a:r>
              <a:t>Werkzeuge: TypeScript strict · ESLint/Ruff · Semgrep · CodeQL · pre-commit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Evals &amp; Benchmarks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Standardisierte Fähigkeitsmessung für Modelle UND Harnesses</a:t>
            </a:r>
          </a:p>
          <a:p>
            <a:pPr/>
            <a:r>
              <a:t>Familien: SWE-bench (Verified/Pro/Multilingual/Live) · Terminal-Bench 2 · Aider Polyglot</a:t>
            </a:r>
          </a:p>
          <a:p>
            <a:pPr/>
            <a:r>
              <a:t>Der Harness zählt mit: gleiches Modell, anderes Scaffold — deutlich anderer Score</a:t>
            </a:r>
          </a:p>
          <a:p>
            <a:pPr/>
            <a:r>
              <a:t>Kritik 2026: Benchmarks messen Patch-Erfolg, nicht Software-Engineering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Eigene Evals &amp; Regressionen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Golden Tasks aus dem eigenen Repo statt fremder Leaderboards</a:t>
            </a:r>
          </a:p>
          <a:p>
            <a:pPr/>
            <a:r>
              <a:t>Produktions-Traces werden Testfälle; Evals laufen in CI bei jeder Änderung</a:t>
            </a:r>
          </a:p>
          <a:p>
            <a:pPr/>
            <a:r>
              <a:t>Warum: Modell-, Prompt- oder Harness-Wechsel ohne eigene Evals ist Blindflug</a:t>
            </a:r>
          </a:p>
          <a:p>
            <a:pPr/>
            <a:r>
              <a:t>Werkzeuge: Braintrust · LangSmith · promptfoo · DeepEval · OpenAI Evals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LLM-as-Judge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Zweites Modell bewertet Ergebnisse gegen eine Rubrik — Review skaliert</a:t>
            </a:r>
          </a:p>
          <a:p>
            <a:pPr/>
            <a:r>
              <a:t>Muster: Rubrik-Scoring, paarweiser Vergleich, Judge-Panel statt Einzel-Urteil</a:t>
            </a:r>
          </a:p>
          <a:p>
            <a:pPr/>
            <a:r>
              <a:t>Bias-Fallen: Position, Länge, Selbst-Bevorzugung — gegen Mensch-Urteile kalibrieren</a:t>
            </a:r>
          </a:p>
          <a:p>
            <a:pPr/>
            <a:r>
              <a:t>Werkzeuge: autoevals (Braintrust) · DeepEval · G-Eval-Muster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Review-Agenten &amp; Merge-Queues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Maschinelles Erst-Review jedes PRs; der Mensch prüft das Destillat</a:t>
            </a:r>
          </a:p>
          <a:p>
            <a:pPr/>
            <a:r>
              <a:t>Merge-Queue serialisiert bei Agent-Durchsatz: gegen aktuellen HEAD testen, dann mergen</a:t>
            </a:r>
          </a:p>
          <a:p>
            <a:pPr/>
            <a:r>
              <a:t>Stacked PRs halten Diffs klein und reviewbar</a:t>
            </a:r>
          </a:p>
          <a:p>
            <a:pPr/>
            <a:r>
              <a:t>Werkzeuge: CodeRabbit · GitHub Copilot Code Review · Graphite · Mergify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Agentische UI-/E2E-Verifikation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Agent bedient die echte App: klicken, tippen, prüfen — nicht nur Unit-grün</a:t>
            </a:r>
          </a:p>
          <a:p>
            <a:pPr/>
            <a:r>
              <a:t>Warum: gerenderte Wahrheit schlägt Code-Vermutung; fängt Integrations-Brüche</a:t>
            </a:r>
          </a:p>
          <a:p>
            <a:pPr/>
            <a:r>
              <a:t>Determinismus braucht Seed-Daten und stabile Selektoren</a:t>
            </a:r>
          </a:p>
          <a:p>
            <a:pPr/>
            <a:r>
              <a:t>Werkzeuge: Playwright MCP · Chrome DevTools MCP · Computer Use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Ökonomie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Modell-Routing &amp; Kaskaden</a:t>
            </a:r>
          </a:p>
          <a:p>
            <a:pPr/>
            <a:r>
              <a:t>Prompt-Caching</a:t>
            </a:r>
          </a:p>
          <a:p>
            <a:pPr/>
            <a:r>
              <a:t>Token-Budgets &amp; Kosten-Steuerung</a:t>
            </a:r>
          </a:p>
          <a:p>
            <a:pPr/>
            <a:r>
              <a:t>Tool-Output-Verdichtung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Modell-Routing &amp; Kaskaden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Je Aufgabe das billigste ausreichende Modell; Eskalation nur bei Bedarf</a:t>
            </a:r>
          </a:p>
          <a:p>
            <a:pPr/>
            <a:r>
              <a:t>Kaskade: günstig zuerst, ein Prüfschritt entscheidet über die Hochstufung</a:t>
            </a:r>
          </a:p>
          <a:p>
            <a:pPr/>
            <a:r>
              <a:t>Preisspanne zwischen Modellstufen: Faktor 10–100</a:t>
            </a:r>
          </a:p>
          <a:p>
            <a:pPr/>
            <a:r>
              <a:t>Werkzeuge: RouteLLM · OpenRouter · LiteLLM · Heuristik-Routing im Orchestrator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Prompt-Caching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Stabile Präfixe (System, Tools, Regeln) werden gecacht — bis ~90 % billiger</a:t>
            </a:r>
          </a:p>
          <a:p>
            <a:pPr/>
            <a:r>
              <a:t>Agent-Loops lesen denselben Kontext dutzendfach: Cache-Hit-Rate ist DIE Kennzahl</a:t>
            </a:r>
          </a:p>
          <a:p>
            <a:pPr/>
            <a:r>
              <a:t>Konsequenz fürs Design: append-only Verlauf, nichts Frühes umschreiben</a:t>
            </a:r>
          </a:p>
          <a:p>
            <a:pPr/>
            <a:r>
              <a:t>Werkzeuge: Anthropic Prompt Caching · implizites Caching bei OpenAI/Gemini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Token-Budgets &amp; Kosten-Steuerung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Budget je Agent und Task; harte Schwellen mit sauberem Abschluss statt Abbruch</a:t>
            </a:r>
          </a:p>
          <a:p>
            <a:pPr/>
            <a:r>
              <a:t>Kosten = Fenstergrösse × Turns — beide Dimensionen messen, nicht nur eine</a:t>
            </a:r>
          </a:p>
          <a:p>
            <a:pPr/>
            <a:r>
              <a:t>Limits: max Turns · Spend-Caps · Batch-Verarbeitung für Massenläufe</a:t>
            </a:r>
          </a:p>
          <a:p>
            <a:pPr/>
            <a:r>
              <a:t>Werkzeuge: LiteLLM Budgets/Virtual Keys · Provider-Dashboards · eigene Guards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Tool-Output-Verdichtung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Grosse Ausgaben filtern/aggregieren, BEVOR sie in den Kontext gehen</a:t>
            </a:r>
          </a:p>
          <a:p>
            <a:pPr/>
            <a:r>
              <a:t>Logs in Dateien umleiten und gezielt lesen; DB-Queries nur mit LIMIT/Aggregat</a:t>
            </a:r>
          </a:p>
          <a:p>
            <a:pPr/>
            <a:r>
              <a:t>Warum: jeder Folge-Turn liest den ganzen bisherigen Verlauf erneut mit</a:t>
            </a:r>
          </a:p>
          <a:p>
            <a:pPr/>
            <a:r>
              <a:t>Ansätze: head/tail/grep-Disziplin · Datei-Umleitung · paginierte Tool-Antworten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Gedächtnis &amp; Wissen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Persistente Memory-Systeme</a:t>
            </a:r>
          </a:p>
          <a:p>
            <a:pPr/>
            <a:r>
              <a:t>Retrieval &amp; Just-in-time-Kontext</a:t>
            </a:r>
          </a:p>
          <a:p>
            <a:pPr/>
            <a:r>
              <a:t>Wissen im Repo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Persistente Memory-Systeme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Wissen über Sessions hinweg: Präferenzen, Projektfakten, Entscheidungen</a:t>
            </a:r>
          </a:p>
          <a:p>
            <a:pPr/>
            <a:r>
              <a:t>Scopes: User / Session / Agent — Speicher als Vektor + Graph + Key-Value</a:t>
            </a:r>
          </a:p>
          <a:p>
            <a:pPr/>
            <a:r>
              <a:t>Auswahl 2026: Mem0 (Personalisierung) · Zep (Zeitbezug) · Letta (Agent steuert selbst)</a:t>
            </a:r>
          </a:p>
          <a:p>
            <a:pPr/>
            <a:r>
              <a:t>Dazu dateibasiert: Auto-Memory/MEMORY.md im Repo oder Profil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Retrieval &amp; Just-in-time-Kontext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Erst suchen, dann laden: grep/Glob/AST statt alles ins Fenster</a:t>
            </a:r>
          </a:p>
          <a:p>
            <a:pPr/>
            <a:r>
              <a:t>Agentic Search schlägt im Code-Umfeld oft Embedding-RAG</a:t>
            </a:r>
          </a:p>
          <a:p>
            <a:pPr/>
            <a:r>
              <a:t>Repo-Karten als billige Orientierung vor dem Tiefen-Lesen</a:t>
            </a:r>
          </a:p>
          <a:p>
            <a:pPr/>
            <a:r>
              <a:t>Werkzeuge: ripgrep · tree-sitter/ast-grep · Aider Repo-Map · RAG wo Text dominiert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Wissen im Repo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Doku als Agent-Futter: ADRs, Runbooks, Modul-READMEs, llms.txt</a:t>
            </a:r>
          </a:p>
          <a:p>
            <a:pPr/>
            <a:r>
              <a:t>Warum: der Agent liest nur, was da ist — implizites Teamwissen ist unsichtbar</a:t>
            </a:r>
          </a:p>
          <a:p>
            <a:pPr/>
            <a:r>
              <a:t>Frisch halten: veraltete Doku schadet Agenten mehr als fehlende</a:t>
            </a:r>
          </a:p>
          <a:p>
            <a:pPr/>
            <a:r>
              <a:t>Ansätze: ADR-Konvention · docs/-Struktur · generierte Architektur-Doku (arc42)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Betrieb &amp; Beobachtbarkeit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Telemetrie &amp; Observability</a:t>
            </a:r>
          </a:p>
          <a:p>
            <a:pPr/>
            <a:r>
              <a:t>Checkpoints &amp; Rewind</a:t>
            </a:r>
          </a:p>
          <a:p>
            <a:pPr/>
            <a:r>
              <a:t>Durable Execution</a:t>
            </a:r>
          </a:p>
          <a:p>
            <a:pPr/>
            <a:r>
              <a:t>Fehlerbilder &amp; Recovery</a:t>
            </a:r>
          </a:p>
          <a:p>
            <a:pPr/>
            <a:r>
              <a:t>Umgebungs-Engineering</a:t>
            </a:r>
          </a:p>
          <a:p>
            <a:pPr/>
            <a:r>
              <a:t>Prompt- &amp; Config-Versionierung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Telemetrie &amp; Observability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Volle Session-Traces statt Einzel-Call-Logs: Mehr-Turn-Fehler sieht man nur kausal</a:t>
            </a:r>
          </a:p>
          <a:p>
            <a:pPr/>
            <a:r>
              <a:t>Metriken: Kosten, Turns, Tool-Fehlerquoten, Interventions-Rate</a:t>
            </a:r>
          </a:p>
          <a:p>
            <a:pPr/>
            <a:r>
              <a:t>Standard: OpenTelemetry GenAI Semantic Conventions</a:t>
            </a:r>
          </a:p>
          <a:p>
            <a:pPr/>
            <a:r>
              <a:t>Werkzeuge: Langfuse · LangSmith · Braintrust · Arize Phoenix · Opik · Datadog LLM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Checkpoints &amp; Rewind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Jeden Schritt sicherbar machen: zurückspulen statt wegwerfen</a:t>
            </a:r>
          </a:p>
          <a:p>
            <a:pPr/>
            <a:r>
              <a:t>Session-Forks: mehrere Fortsetzungen desselben Standes ausprobieren</a:t>
            </a:r>
          </a:p>
          <a:p>
            <a:pPr/>
            <a:r>
              <a:t>git bleibt das Sicherheitsnetz: kleine Commits als Riegel</a:t>
            </a:r>
          </a:p>
          <a:p>
            <a:pPr/>
            <a:r>
              <a:t>Werkzeuge: Claude Code Checkpoints · LangGraph Checkpointer · Cursor Checkpoints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Durable Execution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Lauf überlebt Crash und Neustart: Zustand persistiert, Schritte idempotent</a:t>
            </a:r>
          </a:p>
          <a:p>
            <a:pPr/>
            <a:r>
              <a:t>Für Stunden- bis Wochen-Agenten: Retries, Timer, Human-Wartepunkte inklusive</a:t>
            </a:r>
          </a:p>
          <a:p>
            <a:pPr/>
            <a:r>
              <a:t>Warum: lange autonome Läufe scheitern sonst an Infrastruktur, nicht am Modell</a:t>
            </a:r>
          </a:p>
          <a:p>
            <a:pPr/>
            <a:r>
              <a:t>Werkzeuge: Temporal · Inngest · Restate · LangGraph Platform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Fehlerbilder &amp; Recovery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Agenten scheitern in Mustern — Taxonomie statt Einzelfall-Feuerwehr</a:t>
            </a:r>
          </a:p>
          <a:p>
            <a:pPr/>
            <a:r>
              <a:t>MAST: 14 Fehlermodi in 3 Klassen (Spezifikation, Koordination, Verifikation)</a:t>
            </a:r>
          </a:p>
          <a:p>
            <a:pPr/>
            <a:r>
              <a:t>Mechanik: Retry mit Backoff · Circuit Breaker · Kill-Switch · Eskalation an Mensch</a:t>
            </a:r>
          </a:p>
          <a:p>
            <a:pPr/>
            <a:r>
              <a:t>Ansätze: Fehlbilder klassifizieren, je Klasse eine feste Gegenmassnahme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Umgebungs-Engineering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Reproduzierbare Dev-Umgebung: ein Befehl, deterministisch, mit Seed-Daten</a:t>
            </a:r>
          </a:p>
          <a:p>
            <a:pPr/>
            <a:r>
              <a:t>Schnelle Builds und Tests = schnellere Agenten-Loops</a:t>
            </a:r>
          </a:p>
          <a:p>
            <a:pPr/>
            <a:r>
              <a:t>Agent-ready Codebase: klare Konventionen, kleine Module, sprechende Fehlermeldungen</a:t>
            </a:r>
          </a:p>
          <a:p>
            <a:pPr/>
            <a:r>
              <a:t>Werkzeuge: Devcontainer · Nix · Make-Targets · Cloud-Dev-Umgebungen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Prompt- &amp; Config-Versionierung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System-Prompts, Regeln, Tool-Definitionen als Code: Review, Diff, Rollback</a:t>
            </a:r>
          </a:p>
          <a:p>
            <a:pPr/>
            <a:r>
              <a:t>Warum: Prompt-Drift ist eine der häufigsten Regressionsquellen ohne Versionsstand</a:t>
            </a:r>
          </a:p>
          <a:p>
            <a:pPr/>
            <a:r>
              <a:t>Jede Prompt-Änderung läuft gegen die eigenen Evals (siehe Verifikation)</a:t>
            </a:r>
          </a:p>
          <a:p>
            <a:pPr/>
            <a:r>
              <a:t>Werkzeuge: git als Quelle der Wahrheit · Langfuse Prompt Management · PromptLayer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Werkzeuge &amp; Protokolle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Tool-Design für Agenten</a:t>
            </a:r>
          </a:p>
          <a:p>
            <a:pPr/>
            <a:r>
              <a:t>MCP: Model Context Protocol</a:t>
            </a:r>
          </a:p>
          <a:p>
            <a:pPr/>
            <a:r>
              <a:t>Agent-zu-Agent-Protokolle</a:t>
            </a:r>
          </a:p>
          <a:p>
            <a:pPr/>
            <a:r>
              <a:t>Frameworks &amp; Agent-SDKs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Tool-Design für Agenten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Wenige, klare Tools schlagen viele überlappende; die Beschreibung ist Prompt</a:t>
            </a:r>
          </a:p>
          <a:p>
            <a:pPr/>
            <a:r>
              <a:t>Fehlermeldungen erziehen den Agenten: präzise, mit nächstem Schritt</a:t>
            </a:r>
          </a:p>
          <a:p>
            <a:pPr/>
            <a:r>
              <a:t>Antwortformate knapp halten: paginieren, filtern, IDs statt Blobs</a:t>
            </a:r>
          </a:p>
          <a:p>
            <a:pPr/>
            <a:r>
              <a:t>Ansätze: Anthropic 'Writing tools for agents' · Tool-Eval-Loops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MCP: Model Context Protocol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Offener Standard: verbindet Agenten mit Tools und Daten (Server + Clients)</a:t>
            </a:r>
          </a:p>
          <a:p>
            <a:pPr/>
            <a:r>
              <a:t>Ökosystem: Registry, tausende Server — Transport, Auth, Tool-Semantik geregelt</a:t>
            </a:r>
          </a:p>
          <a:p>
            <a:pPr/>
            <a:r>
              <a:t>Kontext-Kosten grosser Kataloge: Tool-Search/Deferred Loading statt alles laden</a:t>
            </a:r>
          </a:p>
          <a:p>
            <a:pPr/>
            <a:r>
              <a:t>Werkzeuge: modelcontextprotocol.io · MCP Registry · mcp-scan (Security-Prüfung)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Agent-zu-Agent-Protokolle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Interop zwischen Agenten verschiedener Hersteller: Discovery, Tasks, Artefakte</a:t>
            </a:r>
          </a:p>
          <a:p>
            <a:pPr/>
            <a:r>
              <a:t>A2A (Linux Foundation): Agent Cards + Task-Lifecycle; AG-UI für Agent↔Frontend</a:t>
            </a:r>
          </a:p>
          <a:p>
            <a:pPr/>
            <a:r>
              <a:t>Stand 2026: real, aber jung — Adoption deutlich hinter MCP</a:t>
            </a:r>
          </a:p>
          <a:p>
            <a:pPr/>
            <a:r>
              <a:t>Werkzeuge: A2A · AG-UI · ACP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Frameworks &amp; Agent-SDKs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Fertige Bausteine: State, Checkpoints, HITL-Punkte, Tracing — statt Eigenbau</a:t>
            </a:r>
          </a:p>
          <a:p>
            <a:pPr/>
            <a:r>
              <a:t>Auswahlkriterien: Kontrollfluss im Code? Persistenz? Interrupts? Lock-in?</a:t>
            </a:r>
          </a:p>
          <a:p>
            <a:pPr/>
            <a:r>
              <a:t>Frameworks: LangGraph · CrewAI · AutoGen/AG2 · smolagents · Mastra</a:t>
            </a:r>
          </a:p>
          <a:p>
            <a:pPr/>
            <a:r>
              <a:t>Provider-SDKs: Claude Agent SDK · OpenAI Agents SDK · Google ADK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Sicherheit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Prompt Injection</a:t>
            </a:r>
          </a:p>
          <a:p>
            <a:pPr/>
            <a:r>
              <a:t>Lethal Trifecta</a:t>
            </a:r>
          </a:p>
          <a:p>
            <a:pPr/>
            <a:r>
              <a:t>Least Privilege &amp; Secrets</a:t>
            </a:r>
          </a:p>
          <a:p>
            <a:pPr/>
            <a:r>
              <a:t>Supply-Chain-Risiken</a:t>
            </a:r>
          </a:p>
          <a:p>
            <a:pPr/>
            <a:r>
              <a:t>Audit &amp; Nachvollziehbarkeit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Injection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Fremdtext kapert den Agenten: Issue, Webseite, README, Mail als Angriffsvektor</a:t>
            </a:r>
          </a:p>
          <a:p>
            <a:pPr/>
            <a:r>
              <a:t>Modelle trennen Anweisung nicht zuverlässig von Daten — OWASP-Risiko Nr. 1, ungelöst</a:t>
            </a:r>
          </a:p>
          <a:p>
            <a:pPr/>
            <a:r>
              <a:t>Abwehr: Containment statt Filter-Hoffnung; Vertrauensgrenzen, markierte Kanäle</a:t>
            </a:r>
          </a:p>
          <a:p>
            <a:pPr/>
            <a:r>
              <a:t>Ansätze: OWASP GenAI Top 10 · Spotlighting · StruQ · CaMeL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Lethal Trifecta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Gefährliche Kombination: private Daten + Fremd-Input + Kanal nach draussen</a:t>
            </a:r>
          </a:p>
          <a:p>
            <a:pPr/>
            <a:r>
              <a:t>Alle drei zusammen: Exfiltration ist eine Frage der Zeit, nicht des Zufalls</a:t>
            </a:r>
          </a:p>
          <a:p>
            <a:pPr/>
            <a:r>
              <a:t>Abhilfe: einen Schenkel entfernen — Egress sperren, Daten trennen, Input misstrauen</a:t>
            </a:r>
          </a:p>
          <a:p>
            <a:pPr/>
            <a:r>
              <a:t>Ansätze: Blast-Radius-Reduktion · Egress-Allowlists · DLP am Ausgang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Least Privilege &amp; Secrets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Kurzlebige, eng begrenzte Credentials je Agent und Aufgabe</a:t>
            </a:r>
          </a:p>
          <a:p>
            <a:pPr/>
            <a:r>
              <a:t>Secrets nie in Kontext oder Logs; Injektion zur Laufzeit statt .env im Prompt</a:t>
            </a:r>
          </a:p>
          <a:p>
            <a:pPr/>
            <a:r>
              <a:t>Eigene Agent-Identität: zuordenbar, entziehbar, getrennt vom Menschen</a:t>
            </a:r>
          </a:p>
          <a:p>
            <a:pPr/>
            <a:r>
              <a:t>Werkzeuge: Fine-grained Tokens · Vault/1Password-Injection · Cloud-IAM-Rollen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Supply-Chain-Risiken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Slopsquatting: halluzinierte Paketnamen werden registriert und ausgeliefert</a:t>
            </a:r>
          </a:p>
          <a:p>
            <a:pPr/>
            <a:r>
              <a:t>Bösartige MCP-Server und Skills: Tool-Poisoning, Rug Pulls</a:t>
            </a:r>
          </a:p>
          <a:p>
            <a:pPr/>
            <a:r>
              <a:t>Abwehr: Lockfiles + Pinning · Registry-Vetting · Scanner vor Installation</a:t>
            </a:r>
          </a:p>
          <a:p>
            <a:pPr/>
            <a:r>
              <a:t>Werkzeuge: mcp-scan · Dependency-Scanner (Socket u. a.) · interne Registries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 &amp; Nachvollziehbarkeit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Jede Agent-Aktion protokolliert: wer, was, womit, auf wessen Anweisung</a:t>
            </a:r>
          </a:p>
          <a:p>
            <a:pPr/>
            <a:r>
              <a:t>Attribution im Repo: Agent-Commits erkennbar (Trailer, Bot-Identität)</a:t>
            </a:r>
          </a:p>
          <a:p>
            <a:pPr/>
            <a:r>
              <a:t>Session-Logs als Forensik- und Compliance-Grundlage</a:t>
            </a:r>
          </a:p>
          <a:p>
            <a:pPr/>
            <a:r>
              <a:t>Ansätze: OTel-Audit-Trails · signierte Commits · Provenance (SLSA)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Mensch im Loop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HITL-Gates</a:t>
            </a:r>
          </a:p>
          <a:p>
            <a:pPr/>
            <a:r>
              <a:t>Plan-Review vor Code</a:t>
            </a:r>
          </a:p>
          <a:p>
            <a:pPr/>
            <a:r>
              <a:t>Steering &amp; Interrupts</a:t>
            </a:r>
          </a:p>
          <a:p>
            <a:pPr/>
            <a:r>
              <a:t>Autonomie-Stufen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HITL-Gates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Definierte Freigabepunkte: Plan, Merge, Deploy, Datenänderung</a:t>
            </a:r>
          </a:p>
          <a:p>
            <a:pPr/>
            <a:r>
              <a:t>Fragen parken und bündeln statt Dauer-Unterbrechung; nie still entscheiden</a:t>
            </a:r>
          </a:p>
          <a:p>
            <a:pPr/>
            <a:r>
              <a:t>Warum: ohne Gates kein Vertrauen — ohne Bündelung kein Durchsatz</a:t>
            </a:r>
          </a:p>
          <a:p>
            <a:pPr/>
            <a:r>
              <a:t>Ansätze: Approval-Steps · Entscheidungs-Dokument · Eskalationsregeln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Plan-Review vor Code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Agent plant read-only; der Mensch prüft den Plan — dann erst bauen</a:t>
            </a:r>
          </a:p>
          <a:p>
            <a:pPr/>
            <a:r>
              <a:t>Billigster Korrekturzeitpunkt: vor der ersten geänderten Datei</a:t>
            </a:r>
          </a:p>
          <a:p>
            <a:pPr/>
            <a:r>
              <a:t>Plan-Artefakt bleibt liegen: abgehakte Tasks, begründete Streichungen</a:t>
            </a:r>
          </a:p>
          <a:p>
            <a:pPr/>
            <a:r>
              <a:t>Werkzeuge: Claude Code Plan Mode · Cursor Plan Mode · Devin-Pläne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Steering &amp; Interrupts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Laufenden Agenten lenken: unterbrechen, umleiten, Nachrichten in die Queue</a:t>
            </a:r>
          </a:p>
          <a:p>
            <a:pPr/>
            <a:r>
              <a:t>Interrupt-Punkte im Graph: anhalten, Zustand editieren, fortsetzen</a:t>
            </a:r>
          </a:p>
          <a:p>
            <a:pPr/>
            <a:r>
              <a:t>Warum: Kurskorrektur ohne Neustart erhält den Arbeitsstand</a:t>
            </a:r>
          </a:p>
          <a:p>
            <a:pPr/>
            <a:r>
              <a:t>Werkzeuge: ESC-Steering in CLIs · LangGraph Interrupts · AG-UI-Events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Autonomie-Stufen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Abgestuft statt an/aus: vorschlagen → editieren → committen → mergen → deployen</a:t>
            </a:r>
          </a:p>
          <a:p>
            <a:pPr/>
            <a:r>
              <a:t>Stufe pro Risiko-Klasse der Aufgabe, nicht global für den ganzen Agenten</a:t>
            </a:r>
          </a:p>
          <a:p>
            <a:pPr/>
            <a:r>
              <a:t>Kennzahl: Interventions-Rate — sinkt sie stabil, darf die Stufe steigen</a:t>
            </a:r>
          </a:p>
          <a:p>
            <a:pPr/>
            <a:r>
              <a:t>Ansätze: Policy je Repo/Pfad · schrittweise Beförderung des Agenten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Quellen Harness (1/2)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Harness Engineering for AI Coding Agents (Augment Code) — https://www.augmentcode.com/guides/harness-engineering-ai-coding-agents</a:t>
            </a:r>
          </a:p>
          <a:p>
            <a:pPr/>
            <a:r>
              <a:t>Harness Engineering: Making AI Coding Agents Work in 2026 (Faros AI) — https://www.faros.ai/blog/harness-engineering</a:t>
            </a:r>
          </a:p>
          <a:p>
            <a:pPr/>
            <a:r>
              <a:t>awesome-harness-engineering (Community-Sammlung) — https://github.com/ai-boost/awesome-harness-engineering</a:t>
            </a:r>
          </a:p>
          <a:p>
            <a:pPr/>
            <a:r>
              <a:t>Writing tools for agents (Anthropic) — https://www.anthropic.com/engineering/writing-tools-for-agents</a:t>
            </a:r>
          </a:p>
          <a:p>
            <a:pPr/>
            <a:r>
              <a:t>Hooks (Claude Code Docs) — https://code.claude.com/docs/en/hooks</a:t>
            </a:r>
          </a:p>
          <a:p>
            <a:pPr/>
            <a:r>
              <a:t>AGENTS.md Spec (Agentic AI Foundation) — https://agents.md</a:t>
            </a:r>
          </a:p>
          <a:p>
            <a:pPr/>
            <a:r>
              <a:t>Agent Skills (Anthropic) — https://www.anthropic.com/news/skills</a:t>
            </a:r>
          </a:p>
          <a:p>
            <a:pPr/>
            <a:r>
              <a:t>Spec Kit (GitHub) — https://github.com/github/spec-kit</a:t>
            </a:r>
          </a:p>
          <a:p>
            <a:pPr/>
            <a:r>
              <a:t>The Lethal Trifecta (Simon Willison) — https://simonwillison.net/2025/Jun/16/the-lethal-trifecta/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Quellen Harness (2/2)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OWASP GenAI Security Top 10 — https://genai.owasp.org</a:t>
            </a:r>
          </a:p>
          <a:p>
            <a:pPr/>
            <a:r>
              <a:t>Blast radius reduction in AI agent deployments (Sophos) — https://www.sophos.com/en-us/blog/inside-the-lethal-trifecta-blast-radius-reduction-in-ai-agent-deployments</a:t>
            </a:r>
          </a:p>
          <a:p>
            <a:pPr/>
            <a:r>
              <a:t>SWE-bench — https://www.swebench.com</a:t>
            </a:r>
          </a:p>
          <a:p>
            <a:pPr/>
            <a:r>
              <a:t>Terminal-Bench (Stanford/Laude Institute) — https://www.tbench.ai</a:t>
            </a:r>
          </a:p>
          <a:p>
            <a:pPr/>
            <a:r>
              <a:t>Agent observability guide 2026 (Braintrust) — https://www.braintrust.dev/articles/agent-observability-complete-guide-2026</a:t>
            </a:r>
          </a:p>
          <a:p>
            <a:pPr/>
            <a:r>
              <a:t>OpenTelemetry GenAI Semantic Conventions — https://opentelemetry.io/docs/specs/semconv/gen-ai/</a:t>
            </a:r>
          </a:p>
          <a:p>
            <a:pPr/>
            <a:r>
              <a:t>State of AI Agent Memory 2026 (Mem0) — https://mem0.ai/blog/state-of-ai-agent-memory-2026</a:t>
            </a:r>
          </a:p>
          <a:p>
            <a:pPr/>
            <a:r>
              <a:t>Why Do Multi-Agent LLM Systems Fail? (MAST) — https://arxiv.org/abs/2503.13657</a:t>
            </a:r>
          </a:p>
          <a:p>
            <a:pPr/>
            <a:r>
              <a:t>Model Context Protocol — https://modelcontextprotocol.io</a:t>
            </a:r>
          </a:p>
          <a:p>
            <a:pPr/>
            <a:r>
              <a:t>A2A Protocol (Linux Foundation) — https://github.com/a2aproject/A2A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tcc.li">
  <a:themeElements>
    <a:clrScheme name="default 14">
      <a:dk1>
        <a:srgbClr val="1B7293"/>
      </a:dk1>
      <a:lt1>
        <a:srgbClr val="FFFFFF"/>
      </a:lt1>
      <a:dk2>
        <a:srgbClr val="1B7293"/>
      </a:dk2>
      <a:lt2>
        <a:srgbClr val="32AFE0"/>
      </a:lt2>
      <a:accent1>
        <a:srgbClr val="00A599"/>
      </a:accent1>
      <a:accent2>
        <a:srgbClr val="7AB51D"/>
      </a:accent2>
      <a:accent3>
        <a:srgbClr val="FFFFFF"/>
      </a:accent3>
      <a:accent4>
        <a:srgbClr val="15607D"/>
      </a:accent4>
      <a:accent5>
        <a:srgbClr val="AACFCA"/>
      </a:accent5>
      <a:accent6>
        <a:srgbClr val="6EA419"/>
      </a:accent6>
      <a:hlink>
        <a:srgbClr val="0B4B62"/>
      </a:hlink>
      <a:folHlink>
        <a:srgbClr val="D4D6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